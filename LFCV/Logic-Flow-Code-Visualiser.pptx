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62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4630400" cy="8229600"/>
  <p:notesSz cx="8229600" cy="14630400"/>
  <p:embeddedFontLst>
    <p:embeddedFont>
      <p:font typeface="Consolas" panose="020B0609020204030204" pitchFamily="49" charset="0"/>
      <p:regular r:id="rId15"/>
      <p:bold r:id="rId16"/>
      <p:italic r:id="rId17"/>
      <p:boldItalic r:id="rId18"/>
    </p:embeddedFont>
    <p:embeddedFont>
      <p:font typeface="Inter" panose="02000503000000020004" pitchFamily="2" charset="0"/>
      <p:regular r:id="rId19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3" d="100"/>
          <a:sy n="103" d="100"/>
        </p:scale>
        <p:origin x="20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182139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28800" y="1346836"/>
            <a:ext cx="10972800" cy="2865120"/>
          </a:xfrm>
        </p:spPr>
        <p:txBody>
          <a:bodyPr anchor="b"/>
          <a:lstStyle>
            <a:lvl1pPr algn="ctr">
              <a:defRPr sz="7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4322446"/>
            <a:ext cx="10972800" cy="1986914"/>
          </a:xfrm>
        </p:spPr>
        <p:txBody>
          <a:bodyPr/>
          <a:lstStyle>
            <a:lvl1pPr marL="0" indent="0" algn="ctr">
              <a:buNone/>
              <a:defRPr sz="2880"/>
            </a:lvl1pPr>
            <a:lvl2pPr marL="548640" indent="0" algn="ctr">
              <a:buNone/>
              <a:defRPr sz="2400"/>
            </a:lvl2pPr>
            <a:lvl3pPr marL="1097280" indent="0" algn="ctr">
              <a:buNone/>
              <a:defRPr sz="2160"/>
            </a:lvl3pPr>
            <a:lvl4pPr marL="1645920" indent="0" algn="ctr">
              <a:buNone/>
              <a:defRPr sz="1920"/>
            </a:lvl4pPr>
            <a:lvl5pPr marL="2194560" indent="0" algn="ctr">
              <a:buNone/>
              <a:defRPr sz="1920"/>
            </a:lvl5pPr>
            <a:lvl6pPr marL="2743200" indent="0" algn="ctr">
              <a:buNone/>
              <a:defRPr sz="1920"/>
            </a:lvl6pPr>
            <a:lvl7pPr marL="3291840" indent="0" algn="ctr">
              <a:buNone/>
              <a:defRPr sz="1920"/>
            </a:lvl7pPr>
            <a:lvl8pPr marL="3840480" indent="0" algn="ctr">
              <a:buNone/>
              <a:defRPr sz="1920"/>
            </a:lvl8pPr>
            <a:lvl9pPr marL="4389120" indent="0" algn="ctr">
              <a:buNone/>
              <a:defRPr sz="192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4/20/26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8002801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4/20/26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8897930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8220" y="2051686"/>
            <a:ext cx="12618720" cy="3423284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8220" y="5507356"/>
            <a:ext cx="12618720" cy="1800224"/>
          </a:xfrm>
        </p:spPr>
        <p:txBody>
          <a:bodyPr/>
          <a:lstStyle>
            <a:lvl1pPr marL="0" indent="0">
              <a:buNone/>
              <a:defRPr sz="2880">
                <a:solidFill>
                  <a:schemeClr val="tx1">
                    <a:tint val="75000"/>
                  </a:schemeClr>
                </a:solidFill>
              </a:defRPr>
            </a:lvl1pPr>
            <a:lvl2pPr marL="54864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4/20/26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2830232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05840" y="2190750"/>
            <a:ext cx="6217920" cy="522160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06640" y="2190750"/>
            <a:ext cx="6217920" cy="522160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4/20/26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1860380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6" y="438150"/>
            <a:ext cx="12618720" cy="1590676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7746" y="2017396"/>
            <a:ext cx="6189344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7746" y="3006090"/>
            <a:ext cx="6189344" cy="442150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406640" y="2017396"/>
            <a:ext cx="6219826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406640" y="3006090"/>
            <a:ext cx="6219826" cy="442150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4/20/26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1215254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4/20/26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8510066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4/20/26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079650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19826" y="1184911"/>
            <a:ext cx="7406640" cy="5848350"/>
          </a:xfrm>
        </p:spPr>
        <p:txBody>
          <a:bodyPr/>
          <a:lstStyle>
            <a:lvl1pPr>
              <a:defRPr sz="3840"/>
            </a:lvl1pPr>
            <a:lvl2pPr>
              <a:defRPr sz="3360"/>
            </a:lvl2pPr>
            <a:lvl3pPr>
              <a:defRPr sz="288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4/20/26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1774056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219826" y="1184911"/>
            <a:ext cx="7406640" cy="5848350"/>
          </a:xfrm>
        </p:spPr>
        <p:txBody>
          <a:bodyPr anchor="t"/>
          <a:lstStyle>
            <a:lvl1pPr marL="0" indent="0">
              <a:buNone/>
              <a:defRPr sz="3840"/>
            </a:lvl1pPr>
            <a:lvl2pPr marL="548640" indent="0">
              <a:buNone/>
              <a:defRPr sz="3360"/>
            </a:lvl2pPr>
            <a:lvl3pPr marL="1097280" indent="0">
              <a:buNone/>
              <a:defRPr sz="2880"/>
            </a:lvl3pPr>
            <a:lvl4pPr marL="1645920" indent="0">
              <a:buNone/>
              <a:defRPr sz="2400"/>
            </a:lvl4pPr>
            <a:lvl5pPr marL="2194560" indent="0">
              <a:buNone/>
              <a:defRPr sz="2400"/>
            </a:lvl5pPr>
            <a:lvl6pPr marL="2743200" indent="0">
              <a:buNone/>
              <a:defRPr sz="2400"/>
            </a:lvl6pPr>
            <a:lvl7pPr marL="3291840" indent="0">
              <a:buNone/>
              <a:defRPr sz="2400"/>
            </a:lvl7pPr>
            <a:lvl8pPr marL="3840480" indent="0">
              <a:buNone/>
              <a:defRPr sz="2400"/>
            </a:lvl8pPr>
            <a:lvl9pPr marL="4389120" indent="0">
              <a:buNone/>
              <a:defRPr sz="24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4/20/26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924249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4/20/26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4679439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469880" y="438150"/>
            <a:ext cx="3154680" cy="6974206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05840" y="438150"/>
            <a:ext cx="9281160" cy="6974206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4/20/26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5863531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8821302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208896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5439673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3165736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1128944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8212233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4732080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7978535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8795033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297647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4198572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365662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05840" y="438150"/>
            <a:ext cx="12618720" cy="15906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40" y="2190750"/>
            <a:ext cx="12618720" cy="52216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0584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4/20/26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6320" y="7627621"/>
            <a:ext cx="493776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3272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13755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  <p:sldLayoutId id="2147483675" r:id="rId13"/>
    <p:sldLayoutId id="2147483676" r:id="rId14"/>
    <p:sldLayoutId id="2147483677" r:id="rId15"/>
    <p:sldLayoutId id="2147483678" r:id="rId16"/>
    <p:sldLayoutId id="2147483679" r:id="rId17"/>
    <p:sldLayoutId id="2147483680" r:id="rId18"/>
    <p:sldLayoutId id="2147483681" r:id="rId19"/>
    <p:sldLayoutId id="2147483682" r:id="rId20"/>
    <p:sldLayoutId id="2147483683" r:id="rId21"/>
    <p:sldLayoutId id="2147483684" r:id="rId22"/>
    <p:sldLayoutId id="2147483685" r:id="rId23"/>
  </p:sldLayoutIdLst>
  <p:hf sldNum="0" hdr="0" ftr="0" dt="0"/>
  <p:txStyles>
    <p:titleStyle>
      <a:lvl1pPr algn="l" defTabSz="1097280" rtl="0" eaLnBrk="1" latinLnBrk="0" hangingPunct="1">
        <a:lnSpc>
          <a:spcPct val="90000"/>
        </a:lnSpc>
        <a:spcBef>
          <a:spcPct val="0"/>
        </a:spcBef>
        <a:buNone/>
        <a:defRPr sz="52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109728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1pPr>
      <a:lvl2pPr marL="8229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46888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301752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5661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41148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6634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3" Type="http://schemas.openxmlformats.org/officeDocument/2006/relationships/image" Target="../media/image19.svg"/><Relationship Id="rId7" Type="http://schemas.openxmlformats.org/officeDocument/2006/relationships/image" Target="../media/image23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22.svg"/><Relationship Id="rId11" Type="http://schemas.openxmlformats.org/officeDocument/2006/relationships/image" Target="../media/image27.png"/><Relationship Id="rId5" Type="http://schemas.openxmlformats.org/officeDocument/2006/relationships/image" Target="../media/image21.svg"/><Relationship Id="rId10" Type="http://schemas.openxmlformats.org/officeDocument/2006/relationships/image" Target="../media/image26.svg"/><Relationship Id="rId4" Type="http://schemas.openxmlformats.org/officeDocument/2006/relationships/image" Target="../media/image20.svg"/><Relationship Id="rId9" Type="http://schemas.openxmlformats.org/officeDocument/2006/relationships/image" Target="../media/image25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svg"/><Relationship Id="rId13" Type="http://schemas.openxmlformats.org/officeDocument/2006/relationships/image" Target="../media/image38.sv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12" Type="http://schemas.openxmlformats.org/officeDocument/2006/relationships/image" Target="../media/image37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31.png"/><Relationship Id="rId11" Type="http://schemas.openxmlformats.org/officeDocument/2006/relationships/image" Target="../media/image36.svg"/><Relationship Id="rId5" Type="http://schemas.openxmlformats.org/officeDocument/2006/relationships/image" Target="../media/image30.png"/><Relationship Id="rId10" Type="http://schemas.openxmlformats.org/officeDocument/2006/relationships/image" Target="../media/image35.svg"/><Relationship Id="rId4" Type="http://schemas.openxmlformats.org/officeDocument/2006/relationships/image" Target="../media/image29.png"/><Relationship Id="rId9" Type="http://schemas.openxmlformats.org/officeDocument/2006/relationships/image" Target="../media/image34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12137" y="1924883"/>
            <a:ext cx="9006126" cy="8558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6700"/>
              </a:lnSpc>
              <a:buNone/>
            </a:pPr>
            <a:r>
              <a:rPr lang="en-US" sz="5400" b="1" dirty="0">
                <a:solidFill>
                  <a:srgbClr val="000000"/>
                </a:solidFill>
                <a:latin typeface="Optima" panose="02000503060000020004" pitchFamily="2" charset="0"/>
                <a:ea typeface="Inter Bold" pitchFamily="34" charset="-122"/>
                <a:cs typeface="Inter Bold" pitchFamily="34" charset="-120"/>
              </a:rPr>
              <a:t>Logic Flow Code Visualiser</a:t>
            </a:r>
            <a:endParaRPr lang="en-US" sz="5400" dirty="0">
              <a:latin typeface="Optima" panose="02000503060000020004" pitchFamily="2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86502" y="2780704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Mini Project using Java</a:t>
            </a:r>
            <a:endParaRPr lang="en-US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793790" y="3718322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  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793790" y="4576643"/>
            <a:ext cx="13042821" cy="1727954"/>
          </a:xfrm>
          <a:prstGeom prst="roundRect">
            <a:avLst>
              <a:gd name="adj" fmla="val 4824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1410" y="4584263"/>
            <a:ext cx="13026271" cy="57090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001197" y="4710946"/>
            <a:ext cx="394108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Sr. No.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5346621" y="4710946"/>
            <a:ext cx="393727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Student Name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9688235" y="4710946"/>
            <a:ext cx="394108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PRN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801410" y="5155168"/>
            <a:ext cx="13026271" cy="57090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1001197" y="5281851"/>
            <a:ext cx="394108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5346621" y="5281851"/>
            <a:ext cx="393727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Prakul Singh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9688235" y="5281851"/>
            <a:ext cx="394108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1032233410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801410" y="5726073"/>
            <a:ext cx="13026271" cy="57090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1001197" y="5852755"/>
            <a:ext cx="394108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5346621" y="5852755"/>
            <a:ext cx="393727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Vedika Rana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9688235" y="5852755"/>
            <a:ext cx="394108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1032233559</a:t>
            </a:r>
            <a:endParaRPr lang="en-US" sz="15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376" y="580311"/>
            <a:ext cx="9141316" cy="5620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35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Problem – Broken Grading Code at Scale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719376" y="1468398"/>
            <a:ext cx="1319164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semester, educators face a growing crisis in code evaluation — inconsistency, blind spots, and sheer volume. The tools available today were not built with academic grading in mind.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89836" y="2200394"/>
            <a:ext cx="6635472" cy="5448895"/>
          </a:xfrm>
          <a:prstGeom prst="roundRect">
            <a:avLst>
              <a:gd name="adj" fmla="val 2377"/>
            </a:avLst>
          </a:prstGeom>
          <a:solidFill>
            <a:srgbClr val="FFD1A7"/>
          </a:solidFill>
          <a:ln/>
        </p:spPr>
      </p:sp>
      <p:sp>
        <p:nvSpPr>
          <p:cNvPr id="5" name="Text 3"/>
          <p:cNvSpPr/>
          <p:nvPr/>
        </p:nvSpPr>
        <p:spPr>
          <a:xfrm>
            <a:off x="769620" y="2363391"/>
            <a:ext cx="2968109" cy="280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The Three Core Pain Points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769620" y="2827734"/>
            <a:ext cx="404693" cy="404693"/>
          </a:xfrm>
          <a:prstGeom prst="roundRect">
            <a:avLst>
              <a:gd name="adj" fmla="val 18667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37009" y="2861429"/>
            <a:ext cx="269796" cy="3371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337310" y="2889528"/>
            <a:ext cx="2248257" cy="280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Subjectivity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1337310" y="3333512"/>
            <a:ext cx="570821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Two professors reviewing the same student submission may award grades that differ by 20+ points, undermining fairness and academic integrity.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69620" y="4482465"/>
            <a:ext cx="404693" cy="404693"/>
          </a:xfrm>
          <a:prstGeom prst="roundRect">
            <a:avLst>
              <a:gd name="adj" fmla="val 18667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7009" y="4516160"/>
            <a:ext cx="269796" cy="3371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337310" y="4544258"/>
            <a:ext cx="2248257" cy="280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Plagiarism Blindspot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1337310" y="4988243"/>
            <a:ext cx="570821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Text-matching tools such as MOSS detect copied text — but miss structural copying where only variable names and string literals are changed.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69620" y="6137196"/>
            <a:ext cx="404693" cy="404693"/>
          </a:xfrm>
          <a:prstGeom prst="roundRect">
            <a:avLst>
              <a:gd name="adj" fmla="val 18667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7009" y="6170890"/>
            <a:ext cx="269796" cy="3371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1337310" y="6198989"/>
            <a:ext cx="2248257" cy="280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Scale</a:t>
            </a:r>
            <a:endParaRPr lang="en-US" sz="1750" dirty="0"/>
          </a:p>
        </p:txBody>
      </p:sp>
      <p:sp>
        <p:nvSpPr>
          <p:cNvPr id="17" name="Text 15"/>
          <p:cNvSpPr/>
          <p:nvPr/>
        </p:nvSpPr>
        <p:spPr>
          <a:xfrm>
            <a:off x="1337310" y="6642973"/>
            <a:ext cx="570821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professor with 40 students and 4 assignments faces </a:t>
            </a:r>
            <a:r>
              <a:rPr lang="en-US" sz="14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160 individual code reviews</a:t>
            </a: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per semester — each requiring deep comprehension, not a skim.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542252" y="2363391"/>
            <a:ext cx="3164562" cy="280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How Existing Tools Fall Short</a:t>
            </a:r>
            <a:endParaRPr lang="en-US" sz="1750" dirty="0"/>
          </a:p>
        </p:txBody>
      </p:sp>
      <p:sp>
        <p:nvSpPr>
          <p:cNvPr id="19" name="Shape 17"/>
          <p:cNvSpPr/>
          <p:nvPr/>
        </p:nvSpPr>
        <p:spPr>
          <a:xfrm>
            <a:off x="7542252" y="2827734"/>
            <a:ext cx="6376392" cy="3019663"/>
          </a:xfrm>
          <a:prstGeom prst="roundRect">
            <a:avLst>
              <a:gd name="adj" fmla="val 2502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30014" y="2940725"/>
            <a:ext cx="122682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Tool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324023" y="2940725"/>
            <a:ext cx="122301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Structural Analysis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914221" y="2940725"/>
            <a:ext cx="122301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Plagiarism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2504420" y="2940725"/>
            <a:ext cx="122682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 Grading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730014" y="3707725"/>
            <a:ext cx="122682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MOSS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324023" y="3707725"/>
            <a:ext cx="122301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✗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0914221" y="3707725"/>
            <a:ext cx="122301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Text only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2504420" y="3707725"/>
            <a:ext cx="122682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✗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730014" y="4200406"/>
            <a:ext cx="122682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SonarQube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9324023" y="4200406"/>
            <a:ext cx="122301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Partial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0914221" y="4200406"/>
            <a:ext cx="122301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✗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2504420" y="4200406"/>
            <a:ext cx="122682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✗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730014" y="4693087"/>
            <a:ext cx="122682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Checkstyle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9324023" y="4693087"/>
            <a:ext cx="122301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Style only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10914221" y="4693087"/>
            <a:ext cx="122301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✗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12504420" y="4693087"/>
            <a:ext cx="122682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✗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7730014" y="5185767"/>
            <a:ext cx="12268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Manual Review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9324023" y="5185767"/>
            <a:ext cx="122301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10914221" y="5185767"/>
            <a:ext cx="122301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Unreliable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12504420" y="5185767"/>
            <a:ext cx="122682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✗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7542252" y="6030754"/>
            <a:ext cx="6376392" cy="718780"/>
          </a:xfrm>
          <a:prstGeom prst="roundRect">
            <a:avLst>
              <a:gd name="adj" fmla="val 10510"/>
            </a:avLst>
          </a:prstGeom>
          <a:solidFill>
            <a:srgbClr val="C7C9EA"/>
          </a:solidFill>
          <a:ln/>
        </p:spPr>
      </p:sp>
      <p:pic>
        <p:nvPicPr>
          <p:cNvPr id="4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2037" y="6296144"/>
            <a:ext cx="224790" cy="179784"/>
          </a:xfrm>
          <a:prstGeom prst="rect">
            <a:avLst/>
          </a:prstGeom>
        </p:spPr>
      </p:pic>
      <p:sp>
        <p:nvSpPr>
          <p:cNvPr id="42" name="Text 39"/>
          <p:cNvSpPr/>
          <p:nvPr/>
        </p:nvSpPr>
        <p:spPr>
          <a:xfrm>
            <a:off x="8126611" y="6238637"/>
            <a:ext cx="5612249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There had to be a better way.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4260" y="558284"/>
            <a:ext cx="7917180" cy="5813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550"/>
              </a:lnSpc>
              <a:buNone/>
            </a:pPr>
            <a:r>
              <a:rPr lang="en-US" sz="36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Logic-Flow Code Visualizer (LFCV)</a:t>
            </a:r>
            <a:endParaRPr lang="en-US" sz="3650" dirty="0"/>
          </a:p>
        </p:txBody>
      </p:sp>
      <p:sp>
        <p:nvSpPr>
          <p:cNvPr id="3" name="Text 1"/>
          <p:cNvSpPr/>
          <p:nvPr/>
        </p:nvSpPr>
        <p:spPr>
          <a:xfrm>
            <a:off x="1023342" y="1684734"/>
            <a:ext cx="12862798" cy="288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white-box static analysis suite that tells you </a:t>
            </a:r>
            <a:r>
              <a:rPr lang="en-US" sz="14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code is structured</a:t>
            </a: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not just whether it works.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744260" y="1488519"/>
            <a:ext cx="22860" cy="680799"/>
          </a:xfrm>
          <a:prstGeom prst="rect">
            <a:avLst/>
          </a:prstGeom>
          <a:solidFill>
            <a:srgbClr val="4950BC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260" y="2365534"/>
            <a:ext cx="1863447" cy="115169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44260" y="3735229"/>
            <a:ext cx="2325767" cy="2906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What It Analyses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44260" y="4130516"/>
            <a:ext cx="4235291" cy="14418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Java source files are parsed via a full </a:t>
            </a:r>
            <a:r>
              <a:rPr lang="en-US" sz="14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Abstract Syntax Tree (AST)</a:t>
            </a: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giving LFCV complete structural visibility into every decision point, loop, dependency, and method call within submitted code.</a:t>
            </a:r>
            <a:endParaRPr lang="en-US" sz="14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97554" y="2365534"/>
            <a:ext cx="1863447" cy="115169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197554" y="3735229"/>
            <a:ext cx="2325767" cy="2906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What It Produces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5197554" y="4130516"/>
            <a:ext cx="4235291" cy="1161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Complexity metrics, interactive CFG diagrams, structural plagiarism flags, per-student detailed reports, and auto-generated gradebook exports — all from a single folder of </a:t>
            </a:r>
            <a:r>
              <a:rPr lang="en-US" sz="14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.java</a:t>
            </a: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files.</a:t>
            </a:r>
            <a:endParaRPr lang="en-US" sz="14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50849" y="2365534"/>
            <a:ext cx="1863447" cy="115169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650849" y="3735229"/>
            <a:ext cx="2325767" cy="2906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Who Uses It</a:t>
            </a:r>
            <a:endParaRPr lang="en-US" sz="1800" dirty="0"/>
          </a:p>
        </p:txBody>
      </p:sp>
      <p:sp>
        <p:nvSpPr>
          <p:cNvPr id="13" name="Text 8"/>
          <p:cNvSpPr/>
          <p:nvPr/>
        </p:nvSpPr>
        <p:spPr>
          <a:xfrm>
            <a:off x="9650849" y="4130516"/>
            <a:ext cx="4235291" cy="11534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University professors and teaching assistants evaluating programming assignments — eliminating subjective bias and dramatically compressing review time at any class size.</a:t>
            </a:r>
            <a:endParaRPr lang="en-US" sz="1450" dirty="0"/>
          </a:p>
        </p:txBody>
      </p:sp>
      <p:sp>
        <p:nvSpPr>
          <p:cNvPr id="14" name="Text 9"/>
          <p:cNvSpPr/>
          <p:nvPr/>
        </p:nvSpPr>
        <p:spPr>
          <a:xfrm>
            <a:off x="744260" y="5861566"/>
            <a:ext cx="4235291" cy="614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800"/>
              </a:lnSpc>
              <a:buNone/>
            </a:pPr>
            <a:r>
              <a:rPr lang="en-US" sz="48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&lt;2min</a:t>
            </a:r>
            <a:endParaRPr lang="en-US" sz="4800" dirty="0"/>
          </a:p>
        </p:txBody>
      </p:sp>
      <p:sp>
        <p:nvSpPr>
          <p:cNvPr id="15" name="Text 10"/>
          <p:cNvSpPr/>
          <p:nvPr/>
        </p:nvSpPr>
        <p:spPr>
          <a:xfrm>
            <a:off x="1699022" y="6699290"/>
            <a:ext cx="2325767" cy="2906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Full Evaluation</a:t>
            </a:r>
            <a:endParaRPr lang="en-US" sz="1800" dirty="0"/>
          </a:p>
        </p:txBody>
      </p:sp>
      <p:sp>
        <p:nvSpPr>
          <p:cNvPr id="16" name="Text 11"/>
          <p:cNvSpPr/>
          <p:nvPr/>
        </p:nvSpPr>
        <p:spPr>
          <a:xfrm>
            <a:off x="744260" y="7094577"/>
            <a:ext cx="4235291" cy="5767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30-submission batch — parsed, analysed, scored, and exported — in under 2 minutes.</a:t>
            </a:r>
            <a:endParaRPr lang="en-US" sz="1450" dirty="0"/>
          </a:p>
        </p:txBody>
      </p:sp>
      <p:sp>
        <p:nvSpPr>
          <p:cNvPr id="17" name="Text 12"/>
          <p:cNvSpPr/>
          <p:nvPr/>
        </p:nvSpPr>
        <p:spPr>
          <a:xfrm>
            <a:off x="5197554" y="5861566"/>
            <a:ext cx="4235291" cy="614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800"/>
              </a:lnSpc>
              <a:buNone/>
            </a:pPr>
            <a:r>
              <a:rPr lang="en-US" sz="48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160+</a:t>
            </a:r>
            <a:endParaRPr lang="en-US" sz="4800" dirty="0"/>
          </a:p>
        </p:txBody>
      </p:sp>
      <p:sp>
        <p:nvSpPr>
          <p:cNvPr id="18" name="Text 13"/>
          <p:cNvSpPr/>
          <p:nvPr/>
        </p:nvSpPr>
        <p:spPr>
          <a:xfrm>
            <a:off x="6152317" y="6699290"/>
            <a:ext cx="2325767" cy="2906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Reviews Automated</a:t>
            </a:r>
            <a:endParaRPr lang="en-US" sz="1800" dirty="0"/>
          </a:p>
        </p:txBody>
      </p:sp>
      <p:sp>
        <p:nvSpPr>
          <p:cNvPr id="19" name="Text 14"/>
          <p:cNvSpPr/>
          <p:nvPr/>
        </p:nvSpPr>
        <p:spPr>
          <a:xfrm>
            <a:off x="5197554" y="7094577"/>
            <a:ext cx="4235291" cy="5767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 semester for a typical 40-student, 4-assignment course load.</a:t>
            </a:r>
            <a:endParaRPr lang="en-US" sz="1450" dirty="0"/>
          </a:p>
        </p:txBody>
      </p:sp>
      <p:sp>
        <p:nvSpPr>
          <p:cNvPr id="20" name="Text 15"/>
          <p:cNvSpPr/>
          <p:nvPr/>
        </p:nvSpPr>
        <p:spPr>
          <a:xfrm>
            <a:off x="9650849" y="5861566"/>
            <a:ext cx="4235291" cy="614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800"/>
              </a:lnSpc>
              <a:buNone/>
            </a:pPr>
            <a:r>
              <a:rPr lang="en-US" sz="48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100%</a:t>
            </a:r>
            <a:endParaRPr lang="en-US" sz="4800" dirty="0"/>
          </a:p>
        </p:txBody>
      </p:sp>
      <p:sp>
        <p:nvSpPr>
          <p:cNvPr id="21" name="Text 16"/>
          <p:cNvSpPr/>
          <p:nvPr/>
        </p:nvSpPr>
        <p:spPr>
          <a:xfrm>
            <a:off x="10605611" y="6699290"/>
            <a:ext cx="2325767" cy="2906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Objective Scoring</a:t>
            </a:r>
            <a:endParaRPr lang="en-US" sz="1800" dirty="0"/>
          </a:p>
        </p:txBody>
      </p:sp>
      <p:sp>
        <p:nvSpPr>
          <p:cNvPr id="22" name="Text 17"/>
          <p:cNvSpPr/>
          <p:nvPr/>
        </p:nvSpPr>
        <p:spPr>
          <a:xfrm>
            <a:off x="9650849" y="7094577"/>
            <a:ext cx="4235291" cy="5767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grade is backed by mathematical metrics — fully reproducible and auditable.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9025" y="548283"/>
            <a:ext cx="5552956" cy="6007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3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Three-Tier Architecture</a:t>
            </a:r>
            <a:endParaRPr lang="en-US" sz="3750" dirty="0"/>
          </a:p>
        </p:txBody>
      </p:sp>
      <p:sp>
        <p:nvSpPr>
          <p:cNvPr id="3" name="Text 1"/>
          <p:cNvSpPr/>
          <p:nvPr/>
        </p:nvSpPr>
        <p:spPr>
          <a:xfrm>
            <a:off x="769025" y="1521500"/>
            <a:ext cx="13092351" cy="605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LFCV is structured as a clean, layered system — separating presentation, business logic, and data access — ensuring modularity, testability, and future extensibility.</a:t>
            </a:r>
            <a:endParaRPr lang="en-US" sz="15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025" y="2545913"/>
            <a:ext cx="6311622" cy="3522702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9025" y="2545913"/>
            <a:ext cx="6311622" cy="352270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557373" y="2522696"/>
            <a:ext cx="2828687" cy="3003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Design Patterns Applied</a:t>
            </a:r>
            <a:endParaRPr lang="en-US" sz="1850" dirty="0"/>
          </a:p>
        </p:txBody>
      </p:sp>
      <p:sp>
        <p:nvSpPr>
          <p:cNvPr id="7" name="Shape 3"/>
          <p:cNvSpPr/>
          <p:nvPr/>
        </p:nvSpPr>
        <p:spPr>
          <a:xfrm>
            <a:off x="7557373" y="3032522"/>
            <a:ext cx="3062645" cy="1824990"/>
          </a:xfrm>
          <a:prstGeom prst="roundRect">
            <a:avLst>
              <a:gd name="adj" fmla="val 6013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7534513" y="3032522"/>
            <a:ext cx="91440" cy="1824990"/>
          </a:xfrm>
          <a:prstGeom prst="roundRect">
            <a:avLst>
              <a:gd name="adj" fmla="val 88314"/>
            </a:avLst>
          </a:prstGeom>
          <a:solidFill>
            <a:srgbClr val="4950BC"/>
          </a:solidFill>
          <a:ln/>
        </p:spPr>
      </p:sp>
      <p:sp>
        <p:nvSpPr>
          <p:cNvPr id="9" name="Text 5"/>
          <p:cNvSpPr/>
          <p:nvPr/>
        </p:nvSpPr>
        <p:spPr>
          <a:xfrm>
            <a:off x="7840980" y="3247549"/>
            <a:ext cx="2403396" cy="3003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Visitor</a:t>
            </a:r>
            <a:endParaRPr lang="en-US" sz="1850" dirty="0"/>
          </a:p>
        </p:txBody>
      </p:sp>
      <p:sp>
        <p:nvSpPr>
          <p:cNvPr id="10" name="Text 6"/>
          <p:cNvSpPr/>
          <p:nvPr/>
        </p:nvSpPr>
        <p:spPr>
          <a:xfrm>
            <a:off x="7840980" y="3734157"/>
            <a:ext cx="2564011" cy="90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Five independent metric visitors traverse the AST without modifying it.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10806232" y="3032522"/>
            <a:ext cx="3062764" cy="1824990"/>
          </a:xfrm>
          <a:prstGeom prst="roundRect">
            <a:avLst>
              <a:gd name="adj" fmla="val 6013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10783372" y="3032522"/>
            <a:ext cx="91440" cy="1824990"/>
          </a:xfrm>
          <a:prstGeom prst="roundRect">
            <a:avLst>
              <a:gd name="adj" fmla="val 88314"/>
            </a:avLst>
          </a:prstGeom>
          <a:solidFill>
            <a:srgbClr val="4950BC"/>
          </a:solidFill>
          <a:ln/>
        </p:spPr>
      </p:sp>
      <p:sp>
        <p:nvSpPr>
          <p:cNvPr id="13" name="Text 9"/>
          <p:cNvSpPr/>
          <p:nvPr/>
        </p:nvSpPr>
        <p:spPr>
          <a:xfrm>
            <a:off x="11089838" y="3247549"/>
            <a:ext cx="2403396" cy="3003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Builder</a:t>
            </a:r>
            <a:endParaRPr lang="en-US" sz="1850" dirty="0"/>
          </a:p>
        </p:txBody>
      </p:sp>
      <p:sp>
        <p:nvSpPr>
          <p:cNvPr id="14" name="Text 10"/>
          <p:cNvSpPr/>
          <p:nvPr/>
        </p:nvSpPr>
        <p:spPr>
          <a:xfrm>
            <a:off x="11089838" y="3734157"/>
            <a:ext cx="2564130" cy="90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CFG nodes and edges assembled incrementally with a dedicated builder.</a:t>
            </a:r>
            <a:endParaRPr lang="en-US" sz="1500" dirty="0"/>
          </a:p>
        </p:txBody>
      </p:sp>
      <p:sp>
        <p:nvSpPr>
          <p:cNvPr id="15" name="Shape 11"/>
          <p:cNvSpPr/>
          <p:nvPr/>
        </p:nvSpPr>
        <p:spPr>
          <a:xfrm>
            <a:off x="7557373" y="5043726"/>
            <a:ext cx="3062645" cy="2428161"/>
          </a:xfrm>
          <a:prstGeom prst="roundRect">
            <a:avLst>
              <a:gd name="adj" fmla="val 4519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534513" y="5043726"/>
            <a:ext cx="91440" cy="2428161"/>
          </a:xfrm>
          <a:prstGeom prst="roundRect">
            <a:avLst>
              <a:gd name="adj" fmla="val 88314"/>
            </a:avLst>
          </a:prstGeom>
          <a:solidFill>
            <a:srgbClr val="4950BC"/>
          </a:solidFill>
          <a:ln/>
        </p:spPr>
      </p:sp>
      <p:sp>
        <p:nvSpPr>
          <p:cNvPr id="17" name="Text 13"/>
          <p:cNvSpPr/>
          <p:nvPr/>
        </p:nvSpPr>
        <p:spPr>
          <a:xfrm>
            <a:off x="7840980" y="5258753"/>
            <a:ext cx="2403396" cy="3003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Facade</a:t>
            </a:r>
            <a:endParaRPr lang="en-US" sz="1850" dirty="0"/>
          </a:p>
        </p:txBody>
      </p:sp>
      <p:sp>
        <p:nvSpPr>
          <p:cNvPr id="18" name="Text 14"/>
          <p:cNvSpPr/>
          <p:nvPr/>
        </p:nvSpPr>
        <p:spPr>
          <a:xfrm>
            <a:off x="7840980" y="5745361"/>
            <a:ext cx="2564011" cy="90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AnalysisEngine exposes a single entry point hiding all internal complexity.</a:t>
            </a:r>
            <a:endParaRPr lang="en-US" sz="1500" dirty="0"/>
          </a:p>
        </p:txBody>
      </p:sp>
      <p:sp>
        <p:nvSpPr>
          <p:cNvPr id="19" name="Shape 15"/>
          <p:cNvSpPr/>
          <p:nvPr/>
        </p:nvSpPr>
        <p:spPr>
          <a:xfrm>
            <a:off x="10806232" y="5043726"/>
            <a:ext cx="3062764" cy="2428161"/>
          </a:xfrm>
          <a:prstGeom prst="roundRect">
            <a:avLst>
              <a:gd name="adj" fmla="val 4519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10783372" y="5043726"/>
            <a:ext cx="91440" cy="2428161"/>
          </a:xfrm>
          <a:prstGeom prst="roundRect">
            <a:avLst>
              <a:gd name="adj" fmla="val 88314"/>
            </a:avLst>
          </a:prstGeom>
          <a:solidFill>
            <a:srgbClr val="4950BC"/>
          </a:solidFill>
          <a:ln/>
        </p:spPr>
      </p:sp>
      <p:sp>
        <p:nvSpPr>
          <p:cNvPr id="21" name="Text 17"/>
          <p:cNvSpPr/>
          <p:nvPr/>
        </p:nvSpPr>
        <p:spPr>
          <a:xfrm>
            <a:off x="11089838" y="5258753"/>
            <a:ext cx="2564130" cy="6007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Observer / MVC / Strategy</a:t>
            </a:r>
            <a:endParaRPr lang="en-US" sz="1850" dirty="0"/>
          </a:p>
        </p:txBody>
      </p:sp>
      <p:sp>
        <p:nvSpPr>
          <p:cNvPr id="22" name="Text 18"/>
          <p:cNvSpPr/>
          <p:nvPr/>
        </p:nvSpPr>
        <p:spPr>
          <a:xfrm>
            <a:off x="11089838" y="6045756"/>
            <a:ext cx="2564130" cy="1211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Real-time UI updates, clean view–model separation, and swappable scoring strategies.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057400" y="388977"/>
            <a:ext cx="4463058" cy="4167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26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Inside the Analysis Pipeline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2057400" y="984885"/>
            <a:ext cx="10515600" cy="3567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submitted </a:t>
            </a:r>
            <a:r>
              <a:rPr lang="en-US" sz="10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.java</a:t>
            </a: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file passes through a deterministic, multi-stage pipeline. Five AST visitors run in parallel before results converge into a single scored </a:t>
            </a:r>
            <a:r>
              <a:rPr lang="en-US" sz="10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CodeMetrics</a:t>
            </a: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object.</a:t>
            </a:r>
            <a:endParaRPr lang="en-US" sz="10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0739" y="1442323"/>
            <a:ext cx="10428923" cy="449722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802460" y="5086709"/>
            <a:ext cx="2365990" cy="295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Five Visitors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2802460" y="4045673"/>
            <a:ext cx="2365990" cy="295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AST Tree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2802460" y="3015153"/>
            <a:ext cx="2365990" cy="295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JavaParser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2802460" y="1974117"/>
            <a:ext cx="2365990" cy="295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.java File</a:t>
            </a:r>
            <a:endParaRPr lang="en-US" sz="1850" dirty="0"/>
          </a:p>
        </p:txBody>
      </p:sp>
      <p:sp>
        <p:nvSpPr>
          <p:cNvPr id="9" name="Shape 6"/>
          <p:cNvSpPr/>
          <p:nvPr/>
        </p:nvSpPr>
        <p:spPr>
          <a:xfrm>
            <a:off x="2057400" y="6141006"/>
            <a:ext cx="5095161" cy="1598771"/>
          </a:xfrm>
          <a:prstGeom prst="roundRect">
            <a:avLst>
              <a:gd name="adj" fmla="val 3503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199203" y="6209943"/>
            <a:ext cx="1422321" cy="1783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Metric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3895844" y="6209943"/>
            <a:ext cx="1418511" cy="1783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It Measures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5588675" y="6209943"/>
            <a:ext cx="1422321" cy="1783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Threshold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2199203" y="6518553"/>
            <a:ext cx="1422321" cy="3567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Cyclomatic Complexity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3895844" y="6518553"/>
            <a:ext cx="1418511" cy="3567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Decision points per method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5588675" y="6518553"/>
            <a:ext cx="1422321" cy="1783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&gt;10 flagged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2199203" y="7005518"/>
            <a:ext cx="1422321" cy="1783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Nesting Depth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3895844" y="7005518"/>
            <a:ext cx="1418511" cy="1783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Block nesting levels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5588675" y="7005518"/>
            <a:ext cx="1422321" cy="1783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&gt;4 flagged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2199203" y="7314128"/>
            <a:ext cx="1422321" cy="1783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CBO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3895844" y="7314128"/>
            <a:ext cx="1418511" cy="3567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External class dependencies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5588675" y="7314128"/>
            <a:ext cx="1422321" cy="1783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&gt;10 flagged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7485459" y="6141006"/>
            <a:ext cx="5095161" cy="805220"/>
          </a:xfrm>
          <a:prstGeom prst="roundRect">
            <a:avLst>
              <a:gd name="adj" fmla="val 6955"/>
            </a:avLst>
          </a:prstGeom>
          <a:solidFill>
            <a:srgbClr val="B6D6FC"/>
          </a:solidFill>
          <a:ln/>
        </p:spPr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8809" y="6328172"/>
            <a:ext cx="166688" cy="13335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7918847" y="6263878"/>
            <a:ext cx="4528423" cy="5350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 five visitors traverse the AST in a </a:t>
            </a:r>
            <a:r>
              <a:rPr lang="en-US" sz="105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single parse pass</a:t>
            </a:r>
            <a:r>
              <a:rPr lang="en-US" sz="10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minimising overhead while maximising analytical depth. Results are aggregated into a unified </a:t>
            </a:r>
            <a:r>
              <a:rPr lang="en-US" sz="105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CodeMetrics</a:t>
            </a:r>
            <a:r>
              <a:rPr lang="en-US" sz="10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object ready for scoring and reporting.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4611" y="548045"/>
            <a:ext cx="4341614" cy="542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250"/>
              </a:lnSpc>
              <a:buNone/>
            </a:pPr>
            <a:r>
              <a:rPr lang="en-US" sz="34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Control Flow Graph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94611" y="1455301"/>
            <a:ext cx="6408777" cy="7815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CFG Visualiser renders a hierarchical, top-to-bottom flow diagram for every analysed method. Each node type is colour-coded to instantly communicate structural meaning — no code reading required.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94611" y="2407682"/>
            <a:ext cx="6408777" cy="3731895"/>
          </a:xfrm>
          <a:prstGeom prst="roundRect">
            <a:avLst>
              <a:gd name="adj" fmla="val 1954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75943" y="2514005"/>
            <a:ext cx="2845713" cy="260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Colour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076462" y="2514005"/>
            <a:ext cx="2845713" cy="260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Node Type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75943" y="2979539"/>
            <a:ext cx="2845713" cy="260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350" dirty="0">
                <a:solidFill>
                  <a:srgbClr val="4CAF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 Green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076462" y="2979539"/>
            <a:ext cx="2845713" cy="260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ENTRY point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75943" y="3445073"/>
            <a:ext cx="2845713" cy="260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350" dirty="0">
                <a:solidFill>
                  <a:srgbClr val="F443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 Red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076462" y="3445073"/>
            <a:ext cx="2845713" cy="260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EXIT point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75943" y="3910608"/>
            <a:ext cx="2845713" cy="260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350" dirty="0">
                <a:solidFill>
                  <a:srgbClr val="FF8C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 Amber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076462" y="3910608"/>
            <a:ext cx="2845713" cy="260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if / decision branch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875943" y="4376142"/>
            <a:ext cx="2845713" cy="260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350" dirty="0">
                <a:solidFill>
                  <a:srgbClr val="FFD7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 Yellow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076462" y="4376142"/>
            <a:ext cx="2845713" cy="260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Loops with back-edges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75943" y="4841677"/>
            <a:ext cx="2845713" cy="260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350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 Blue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076462" y="4841677"/>
            <a:ext cx="2845713" cy="260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 statements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875943" y="5307211"/>
            <a:ext cx="2845713" cy="260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350" dirty="0">
                <a:solidFill>
                  <a:srgbClr val="9C27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 Purple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076462" y="5307211"/>
            <a:ext cx="2845713" cy="260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try / catch blocks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875943" y="5772745"/>
            <a:ext cx="2845713" cy="260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350" dirty="0">
                <a:solidFill>
                  <a:srgbClr val="0096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 Teal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076462" y="5772745"/>
            <a:ext cx="2845713" cy="260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Method call nodes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694611" y="6310432"/>
            <a:ext cx="6408777" cy="1200269"/>
          </a:xfrm>
          <a:prstGeom prst="roundRect">
            <a:avLst>
              <a:gd name="adj" fmla="val 6077"/>
            </a:avLst>
          </a:prstGeom>
          <a:solidFill>
            <a:srgbClr val="C7C9EA"/>
          </a:solidFill>
          <a:ln/>
        </p:spPr>
      </p:sp>
      <p:pic>
        <p:nvPicPr>
          <p:cNvPr id="2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204" y="6565940"/>
            <a:ext cx="217051" cy="173593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1258848" y="6505694"/>
            <a:ext cx="5670947" cy="7815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Dashed amber curves</a:t>
            </a:r>
            <a:r>
              <a:rPr lang="en-US" sz="13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represent loop back-edges. Cross-method call edges trace execution flow between methods declared in the same source file.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7534632" y="1489472"/>
            <a:ext cx="6408777" cy="939760"/>
          </a:xfrm>
          <a:prstGeom prst="roundRect">
            <a:avLst>
              <a:gd name="adj" fmla="val 7761"/>
            </a:avLst>
          </a:prstGeom>
          <a:solidFill>
            <a:srgbClr val="B6FCB8"/>
          </a:solidFill>
          <a:ln/>
        </p:spPr>
      </p:sp>
      <p:pic>
        <p:nvPicPr>
          <p:cNvPr id="2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08225" y="1744980"/>
            <a:ext cx="217051" cy="173593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8098869" y="1684734"/>
            <a:ext cx="5670947" cy="521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CC verified using both AST visitor count </a:t>
            </a:r>
            <a:r>
              <a:rPr lang="en-US" sz="135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and</a:t>
            </a:r>
            <a:r>
              <a:rPr lang="en-US" sz="13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graph formula: </a:t>
            </a:r>
            <a:r>
              <a:rPr lang="en-US" sz="135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CC = Edges − Nodes + 2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6993" y="547449"/>
            <a:ext cx="6723221" cy="552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300"/>
              </a:lnSpc>
              <a:buNone/>
            </a:pPr>
            <a:r>
              <a:rPr lang="en-US" sz="3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Structural Plagiarism Detection</a:t>
            </a:r>
            <a:endParaRPr lang="en-US" sz="3450" dirty="0"/>
          </a:p>
        </p:txBody>
      </p:sp>
      <p:sp>
        <p:nvSpPr>
          <p:cNvPr id="3" name="Text 1"/>
          <p:cNvSpPr/>
          <p:nvPr/>
        </p:nvSpPr>
        <p:spPr>
          <a:xfrm>
            <a:off x="706993" y="1414701"/>
            <a:ext cx="13216414" cy="5348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LFCV's Logic Fingerprint system detects structural copying that text-based tools like MOSS cannot identify — even when students rename every variable and rewrite every comment.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706993" y="2283976"/>
            <a:ext cx="4031456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The Four-Step Normalisation Process</a:t>
            </a:r>
            <a:endParaRPr lang="en-US" sz="17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993" y="2737247"/>
            <a:ext cx="883801" cy="13218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48195" y="2913936"/>
            <a:ext cx="2209562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Strip Comments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1748195" y="3347561"/>
            <a:ext cx="5351383" cy="5348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 comments removed from the AST — only code structure remains.</a:t>
            </a:r>
            <a:endParaRPr lang="en-US" sz="13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6993" y="4059079"/>
            <a:ext cx="883801" cy="106203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748195" y="4235767"/>
            <a:ext cx="2209562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Rename Variables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1748195" y="4669393"/>
            <a:ext cx="5351383" cy="275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 identifiers replaced: </a:t>
            </a:r>
            <a:r>
              <a:rPr lang="en-US" sz="13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VAR_0</a:t>
            </a: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r>
              <a:rPr lang="en-US" sz="13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VAR_1</a:t>
            </a: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…</a:t>
            </a:r>
            <a:endParaRPr lang="en-US" sz="13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6993" y="5121116"/>
            <a:ext cx="883801" cy="106203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748195" y="5297805"/>
            <a:ext cx="2209562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Replace Literals</a:t>
            </a:r>
            <a:endParaRPr lang="en-US" sz="1700" dirty="0"/>
          </a:p>
        </p:txBody>
      </p:sp>
      <p:sp>
        <p:nvSpPr>
          <p:cNvPr id="13" name="Text 8"/>
          <p:cNvSpPr/>
          <p:nvPr/>
        </p:nvSpPr>
        <p:spPr>
          <a:xfrm>
            <a:off x="1748195" y="5731431"/>
            <a:ext cx="5351383" cy="275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 string literals replaced with the token </a:t>
            </a:r>
            <a:r>
              <a:rPr lang="en-US" sz="13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STR</a:t>
            </a: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35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6993" y="6183154"/>
            <a:ext cx="883801" cy="132183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748195" y="6359843"/>
            <a:ext cx="2209562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SHA-256 Hash</a:t>
            </a:r>
            <a:endParaRPr lang="en-US" sz="1700" dirty="0"/>
          </a:p>
        </p:txBody>
      </p:sp>
      <p:sp>
        <p:nvSpPr>
          <p:cNvPr id="16" name="Text 10"/>
          <p:cNvSpPr/>
          <p:nvPr/>
        </p:nvSpPr>
        <p:spPr>
          <a:xfrm>
            <a:off x="1748195" y="6793468"/>
            <a:ext cx="5351383" cy="5348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normalised AST is hashed into a unique Logic Hash fingerprint.</a:t>
            </a:r>
            <a:endParaRPr lang="en-US" sz="1350" dirty="0"/>
          </a:p>
        </p:txBody>
      </p:sp>
      <p:sp>
        <p:nvSpPr>
          <p:cNvPr id="17" name="Text 11"/>
          <p:cNvSpPr/>
          <p:nvPr/>
        </p:nvSpPr>
        <p:spPr>
          <a:xfrm>
            <a:off x="7538442" y="2283976"/>
            <a:ext cx="2209562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Caught in the Act</a:t>
            </a:r>
            <a:endParaRPr lang="en-US" sz="1700" dirty="0"/>
          </a:p>
        </p:txBody>
      </p:sp>
      <p:sp>
        <p:nvSpPr>
          <p:cNvPr id="18" name="Shape 12"/>
          <p:cNvSpPr/>
          <p:nvPr/>
        </p:nvSpPr>
        <p:spPr>
          <a:xfrm>
            <a:off x="7538442" y="2737247"/>
            <a:ext cx="6392585" cy="1627346"/>
          </a:xfrm>
          <a:prstGeom prst="roundRect">
            <a:avLst>
              <a:gd name="adj" fmla="val 4562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9" name="Shape 13"/>
          <p:cNvSpPr/>
          <p:nvPr/>
        </p:nvSpPr>
        <p:spPr>
          <a:xfrm>
            <a:off x="7546062" y="2744867"/>
            <a:ext cx="3188613" cy="1612106"/>
          </a:xfrm>
          <a:prstGeom prst="roundRect">
            <a:avLst>
              <a:gd name="adj" fmla="val 4605"/>
            </a:avLst>
          </a:prstGeom>
          <a:solidFill>
            <a:srgbClr val="DADBF1"/>
          </a:solidFill>
          <a:ln/>
        </p:spPr>
      </p:sp>
      <p:sp>
        <p:nvSpPr>
          <p:cNvPr id="20" name="Text 14"/>
          <p:cNvSpPr/>
          <p:nvPr/>
        </p:nvSpPr>
        <p:spPr>
          <a:xfrm>
            <a:off x="7722751" y="2921556"/>
            <a:ext cx="2209562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Student A</a:t>
            </a:r>
            <a:endParaRPr lang="en-US" sz="1700" dirty="0"/>
          </a:p>
        </p:txBody>
      </p:sp>
      <p:sp>
        <p:nvSpPr>
          <p:cNvPr id="21" name="Text 15"/>
          <p:cNvSpPr/>
          <p:nvPr/>
        </p:nvSpPr>
        <p:spPr>
          <a:xfrm>
            <a:off x="7722751" y="3355181"/>
            <a:ext cx="2835235" cy="8251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int counter = 0;String message = "hello";for (int i = 0; i &lt; n; i++)</a:t>
            </a:r>
            <a:endParaRPr lang="en-US" sz="1350" dirty="0"/>
          </a:p>
        </p:txBody>
      </p:sp>
      <p:sp>
        <p:nvSpPr>
          <p:cNvPr id="22" name="Shape 16"/>
          <p:cNvSpPr/>
          <p:nvPr/>
        </p:nvSpPr>
        <p:spPr>
          <a:xfrm>
            <a:off x="10734675" y="2744867"/>
            <a:ext cx="3188732" cy="1612106"/>
          </a:xfrm>
          <a:prstGeom prst="rect">
            <a:avLst/>
          </a:prstGeom>
          <a:solidFill>
            <a:srgbClr val="DADBF1"/>
          </a:solidFill>
          <a:ln/>
        </p:spPr>
      </p:sp>
      <p:sp>
        <p:nvSpPr>
          <p:cNvPr id="23" name="Shape 17"/>
          <p:cNvSpPr/>
          <p:nvPr/>
        </p:nvSpPr>
        <p:spPr>
          <a:xfrm>
            <a:off x="10734675" y="2744867"/>
            <a:ext cx="22860" cy="1612106"/>
          </a:xfrm>
          <a:prstGeom prst="roundRect">
            <a:avLst>
              <a:gd name="adj" fmla="val 324768"/>
            </a:avLst>
          </a:prstGeom>
          <a:solidFill>
            <a:srgbClr val="C0C1D7"/>
          </a:solidFill>
          <a:ln/>
        </p:spPr>
      </p:sp>
      <p:sp>
        <p:nvSpPr>
          <p:cNvPr id="24" name="Text 18"/>
          <p:cNvSpPr/>
          <p:nvPr/>
        </p:nvSpPr>
        <p:spPr>
          <a:xfrm>
            <a:off x="10911364" y="2921556"/>
            <a:ext cx="2209562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Student B</a:t>
            </a:r>
            <a:endParaRPr lang="en-US" sz="1700" dirty="0"/>
          </a:p>
        </p:txBody>
      </p:sp>
      <p:sp>
        <p:nvSpPr>
          <p:cNvPr id="25" name="Text 19"/>
          <p:cNvSpPr/>
          <p:nvPr/>
        </p:nvSpPr>
        <p:spPr>
          <a:xfrm>
            <a:off x="10911364" y="3355181"/>
            <a:ext cx="2835354" cy="8251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int x = 0;String txt = "world";for (int k = 0; k &lt; n; k++)</a:t>
            </a:r>
            <a:endParaRPr lang="en-US" sz="1350" dirty="0"/>
          </a:p>
        </p:txBody>
      </p:sp>
      <p:sp>
        <p:nvSpPr>
          <p:cNvPr id="26" name="Shape 20"/>
          <p:cNvSpPr/>
          <p:nvPr/>
        </p:nvSpPr>
        <p:spPr>
          <a:xfrm>
            <a:off x="7538442" y="4541639"/>
            <a:ext cx="6392585" cy="974050"/>
          </a:xfrm>
          <a:prstGeom prst="roundRect">
            <a:avLst>
              <a:gd name="adj" fmla="val 7622"/>
            </a:avLst>
          </a:prstGeom>
          <a:solidFill>
            <a:srgbClr val="B6FCB8"/>
          </a:solidFill>
          <a:ln/>
        </p:spPr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15131" y="4798338"/>
            <a:ext cx="220861" cy="176689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8112681" y="4743212"/>
            <a:ext cx="5641657" cy="5424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Same Logic Hash: </a:t>
            </a:r>
            <a:r>
              <a:rPr lang="en-US" sz="135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a3f9c2d1…</a:t>
            </a:r>
            <a:r>
              <a:rPr lang="en-US" sz="135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IDENTICAL — structurally caught.</a:t>
            </a:r>
            <a:endParaRPr lang="en-US" sz="1350" dirty="0"/>
          </a:p>
        </p:txBody>
      </p:sp>
      <p:sp>
        <p:nvSpPr>
          <p:cNvPr id="29" name="Text 22"/>
          <p:cNvSpPr/>
          <p:nvPr/>
        </p:nvSpPr>
        <p:spPr>
          <a:xfrm>
            <a:off x="7538442" y="5692735"/>
            <a:ext cx="6392585" cy="4276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catches plagiarism that MOSS and all text-matching tools miss entirely — the logic is the same regardless of surface-level renaming.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4628" y="568881"/>
            <a:ext cx="5041821" cy="513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3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Sample Analysis Outputs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34628" y="1354574"/>
            <a:ext cx="12961025" cy="480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following two submissions were drawn from the same assignment batch. LFCV evaluated, scored, and flagged both in under a second each — surfacing quality and integrity issues that manual review might have missed.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716280" y="1988225"/>
            <a:ext cx="6516648" cy="4897279"/>
          </a:xfrm>
          <a:prstGeom prst="roundRect">
            <a:avLst>
              <a:gd name="adj" fmla="val 2416"/>
            </a:avLst>
          </a:prstGeom>
          <a:solidFill>
            <a:srgbClr val="FFD1A7"/>
          </a:solidFill>
          <a:ln/>
        </p:spPr>
      </p:sp>
      <p:sp>
        <p:nvSpPr>
          <p:cNvPr id="5" name="Shape 3"/>
          <p:cNvSpPr/>
          <p:nvPr/>
        </p:nvSpPr>
        <p:spPr>
          <a:xfrm>
            <a:off x="880586" y="2141339"/>
            <a:ext cx="1766054" cy="290751"/>
          </a:xfrm>
          <a:prstGeom prst="roundRect">
            <a:avLst>
              <a:gd name="adj" fmla="val 18994"/>
            </a:avLst>
          </a:prstGeom>
          <a:solidFill>
            <a:srgbClr val="DADBF1"/>
          </a:solidFill>
          <a:ln/>
        </p:spPr>
      </p:sp>
      <p:sp>
        <p:nvSpPr>
          <p:cNvPr id="6" name="Text 4"/>
          <p:cNvSpPr/>
          <p:nvPr/>
        </p:nvSpPr>
        <p:spPr>
          <a:xfrm>
            <a:off x="979170" y="2190631"/>
            <a:ext cx="1568887" cy="1921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GRADE: A — EXCELLENT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80586" y="2486501"/>
            <a:ext cx="2462332" cy="256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S001_Alice — Stack.java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80586" y="2896433"/>
            <a:ext cx="6188035" cy="2565083"/>
          </a:xfrm>
          <a:prstGeom prst="roundRect">
            <a:avLst>
              <a:gd name="adj" fmla="val 2691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2632" y="2993231"/>
            <a:ext cx="2757726" cy="240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Metric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138970" y="2993231"/>
            <a:ext cx="2757726" cy="240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Value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052632" y="3419475"/>
            <a:ext cx="2757726" cy="240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 CC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138970" y="3419475"/>
            <a:ext cx="2757726" cy="240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052632" y="3845719"/>
            <a:ext cx="2757726" cy="240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Avg CC / Method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138970" y="3845719"/>
            <a:ext cx="2757726" cy="240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1.57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052632" y="4271963"/>
            <a:ext cx="2757726" cy="240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Max Nesting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138970" y="4271963"/>
            <a:ext cx="2757726" cy="240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052632" y="4698206"/>
            <a:ext cx="2757726" cy="240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Code Smells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138970" y="4698206"/>
            <a:ext cx="2757726" cy="240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None detected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052632" y="5124450"/>
            <a:ext cx="2757726" cy="240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Score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138970" y="5124450"/>
            <a:ext cx="2757726" cy="240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88 / 100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880586" y="5614630"/>
            <a:ext cx="6188035" cy="862251"/>
          </a:xfrm>
          <a:prstGeom prst="roundRect">
            <a:avLst>
              <a:gd name="adj" fmla="val 8006"/>
            </a:avLst>
          </a:prstGeom>
          <a:solidFill>
            <a:srgbClr val="B6FCB8"/>
          </a:solidFill>
          <a:ln/>
        </p:spPr>
      </p:sp>
      <p:pic>
        <p:nvPicPr>
          <p:cNvPr id="2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4892" y="5851446"/>
            <a:ext cx="205383" cy="164306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1414582" y="5791795"/>
            <a:ext cx="5489734" cy="480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Clean, well-structured implementation with low complexity and no maintainability concerns.</a:t>
            </a:r>
            <a:endParaRPr lang="en-US" sz="1250" dirty="0"/>
          </a:p>
        </p:txBody>
      </p:sp>
      <p:sp>
        <p:nvSpPr>
          <p:cNvPr id="24" name="Shape 21"/>
          <p:cNvSpPr/>
          <p:nvPr/>
        </p:nvSpPr>
        <p:spPr>
          <a:xfrm>
            <a:off x="7523202" y="2141339"/>
            <a:ext cx="1515904" cy="305991"/>
          </a:xfrm>
          <a:prstGeom prst="roundRect">
            <a:avLst>
              <a:gd name="adj" fmla="val 18048"/>
            </a:avLst>
          </a:prstGeom>
          <a:noFill/>
          <a:ln w="7620">
            <a:solidFill>
              <a:srgbClr val="4950BC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629406" y="2198251"/>
            <a:ext cx="1303496" cy="1921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495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GRADE: F — FAILING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7523202" y="2501741"/>
            <a:ext cx="3330535" cy="256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S006_Frank — DataManager.java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7523202" y="2911673"/>
            <a:ext cx="6279952" cy="2805351"/>
          </a:xfrm>
          <a:prstGeom prst="roundRect">
            <a:avLst>
              <a:gd name="adj" fmla="val 2461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695248" y="3008471"/>
            <a:ext cx="2803684" cy="240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Metric</a:t>
            </a:r>
            <a:endParaRPr lang="en-US" sz="1250" dirty="0"/>
          </a:p>
        </p:txBody>
      </p:sp>
      <p:sp>
        <p:nvSpPr>
          <p:cNvPr id="29" name="Text 26"/>
          <p:cNvSpPr/>
          <p:nvPr/>
        </p:nvSpPr>
        <p:spPr>
          <a:xfrm>
            <a:off x="10827544" y="3008471"/>
            <a:ext cx="2803684" cy="240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Value</a:t>
            </a:r>
            <a:endParaRPr lang="en-US" sz="1250" dirty="0"/>
          </a:p>
        </p:txBody>
      </p:sp>
      <p:sp>
        <p:nvSpPr>
          <p:cNvPr id="30" name="Text 27"/>
          <p:cNvSpPr/>
          <p:nvPr/>
        </p:nvSpPr>
        <p:spPr>
          <a:xfrm>
            <a:off x="7695248" y="3434715"/>
            <a:ext cx="2803684" cy="240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 CC</a:t>
            </a:r>
            <a:endParaRPr lang="en-US" sz="1250" dirty="0"/>
          </a:p>
        </p:txBody>
      </p:sp>
      <p:sp>
        <p:nvSpPr>
          <p:cNvPr id="31" name="Text 28"/>
          <p:cNvSpPr/>
          <p:nvPr/>
        </p:nvSpPr>
        <p:spPr>
          <a:xfrm>
            <a:off x="10827544" y="3434715"/>
            <a:ext cx="2803684" cy="240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47</a:t>
            </a:r>
            <a:endParaRPr lang="en-US" sz="1250" dirty="0"/>
          </a:p>
        </p:txBody>
      </p:sp>
      <p:sp>
        <p:nvSpPr>
          <p:cNvPr id="32" name="Text 29"/>
          <p:cNvSpPr/>
          <p:nvPr/>
        </p:nvSpPr>
        <p:spPr>
          <a:xfrm>
            <a:off x="7695248" y="3860959"/>
            <a:ext cx="2803684" cy="240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Avg CC / Method</a:t>
            </a:r>
            <a:endParaRPr lang="en-US" sz="1250" dirty="0"/>
          </a:p>
        </p:txBody>
      </p:sp>
      <p:sp>
        <p:nvSpPr>
          <p:cNvPr id="33" name="Text 30"/>
          <p:cNvSpPr/>
          <p:nvPr/>
        </p:nvSpPr>
        <p:spPr>
          <a:xfrm>
            <a:off x="10827544" y="3860959"/>
            <a:ext cx="2803684" cy="240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2.61</a:t>
            </a:r>
            <a:endParaRPr lang="en-US" sz="1250" dirty="0"/>
          </a:p>
        </p:txBody>
      </p:sp>
      <p:sp>
        <p:nvSpPr>
          <p:cNvPr id="34" name="Text 31"/>
          <p:cNvSpPr/>
          <p:nvPr/>
        </p:nvSpPr>
        <p:spPr>
          <a:xfrm>
            <a:off x="7695248" y="4287203"/>
            <a:ext cx="2803684" cy="240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Max Nesting</a:t>
            </a:r>
            <a:endParaRPr lang="en-US" sz="1250" dirty="0"/>
          </a:p>
        </p:txBody>
      </p:sp>
      <p:sp>
        <p:nvSpPr>
          <p:cNvPr id="35" name="Text 32"/>
          <p:cNvSpPr/>
          <p:nvPr/>
        </p:nvSpPr>
        <p:spPr>
          <a:xfrm>
            <a:off x="10827544" y="4287203"/>
            <a:ext cx="2803684" cy="240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250" dirty="0"/>
          </a:p>
        </p:txBody>
      </p:sp>
      <p:sp>
        <p:nvSpPr>
          <p:cNvPr id="36" name="Text 33"/>
          <p:cNvSpPr/>
          <p:nvPr/>
        </p:nvSpPr>
        <p:spPr>
          <a:xfrm>
            <a:off x="7695248" y="4713446"/>
            <a:ext cx="2803684" cy="240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Code Smells</a:t>
            </a:r>
            <a:endParaRPr lang="en-US" sz="1250" dirty="0"/>
          </a:p>
        </p:txBody>
      </p:sp>
      <p:sp>
        <p:nvSpPr>
          <p:cNvPr id="37" name="Text 34"/>
          <p:cNvSpPr/>
          <p:nvPr/>
        </p:nvSpPr>
        <p:spPr>
          <a:xfrm>
            <a:off x="10827544" y="4713446"/>
            <a:ext cx="2803684" cy="480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God Class, Spaghetti Code, Magic Numbers</a:t>
            </a:r>
            <a:endParaRPr lang="en-US" sz="1250" dirty="0"/>
          </a:p>
        </p:txBody>
      </p:sp>
      <p:sp>
        <p:nvSpPr>
          <p:cNvPr id="38" name="Text 35"/>
          <p:cNvSpPr/>
          <p:nvPr/>
        </p:nvSpPr>
        <p:spPr>
          <a:xfrm>
            <a:off x="7695248" y="5379958"/>
            <a:ext cx="2803684" cy="240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Score</a:t>
            </a:r>
            <a:endParaRPr lang="en-US" sz="1250" dirty="0"/>
          </a:p>
        </p:txBody>
      </p:sp>
      <p:sp>
        <p:nvSpPr>
          <p:cNvPr id="39" name="Text 36"/>
          <p:cNvSpPr/>
          <p:nvPr/>
        </p:nvSpPr>
        <p:spPr>
          <a:xfrm>
            <a:off x="10827544" y="5379958"/>
            <a:ext cx="2803684" cy="240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 / 100</a:t>
            </a:r>
            <a:endParaRPr lang="en-US" sz="1250" dirty="0"/>
          </a:p>
        </p:txBody>
      </p:sp>
      <p:sp>
        <p:nvSpPr>
          <p:cNvPr id="40" name="Shape 37"/>
          <p:cNvSpPr/>
          <p:nvPr/>
        </p:nvSpPr>
        <p:spPr>
          <a:xfrm>
            <a:off x="7523202" y="5870138"/>
            <a:ext cx="6279952" cy="862251"/>
          </a:xfrm>
          <a:prstGeom prst="roundRect">
            <a:avLst>
              <a:gd name="adj" fmla="val 8006"/>
            </a:avLst>
          </a:prstGeom>
          <a:solidFill>
            <a:srgbClr val="FFB3B4"/>
          </a:solidFill>
          <a:ln/>
        </p:spPr>
      </p:sp>
      <p:pic>
        <p:nvPicPr>
          <p:cNvPr id="4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7508" y="6106954"/>
            <a:ext cx="205383" cy="164306"/>
          </a:xfrm>
          <a:prstGeom prst="rect">
            <a:avLst/>
          </a:prstGeom>
        </p:spPr>
      </p:pic>
      <p:sp>
        <p:nvSpPr>
          <p:cNvPr id="42" name="Text 38"/>
          <p:cNvSpPr/>
          <p:nvPr/>
        </p:nvSpPr>
        <p:spPr>
          <a:xfrm>
            <a:off x="8057198" y="6047303"/>
            <a:ext cx="5581650" cy="480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Critically complex and unmaintainable. Multiple high-severity smells detected across methods.</a:t>
            </a:r>
            <a:endParaRPr lang="en-US" sz="1250" dirty="0"/>
          </a:p>
        </p:txBody>
      </p:sp>
      <p:sp>
        <p:nvSpPr>
          <p:cNvPr id="43" name="Shape 39"/>
          <p:cNvSpPr/>
          <p:nvPr/>
        </p:nvSpPr>
        <p:spPr>
          <a:xfrm>
            <a:off x="834628" y="7038618"/>
            <a:ext cx="12961025" cy="621983"/>
          </a:xfrm>
          <a:prstGeom prst="roundRect">
            <a:avLst>
              <a:gd name="adj" fmla="val 11099"/>
            </a:avLst>
          </a:prstGeom>
          <a:solidFill>
            <a:srgbClr val="FCF2B5"/>
          </a:solidFill>
          <a:ln/>
        </p:spPr>
      </p:sp>
      <p:pic>
        <p:nvPicPr>
          <p:cNvPr id="4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8934" y="7275433"/>
            <a:ext cx="205383" cy="164306"/>
          </a:xfrm>
          <a:prstGeom prst="rect">
            <a:avLst/>
          </a:prstGeom>
        </p:spPr>
      </p:pic>
      <p:sp>
        <p:nvSpPr>
          <p:cNvPr id="45" name="Text 40"/>
          <p:cNvSpPr/>
          <p:nvPr/>
        </p:nvSpPr>
        <p:spPr>
          <a:xfrm>
            <a:off x="1368623" y="7215783"/>
            <a:ext cx="12262723" cy="240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⚠ Integrity Alert — S001_Alice ↔ S002_Bob: </a:t>
            </a:r>
            <a:r>
              <a:rPr lang="en-US" sz="125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IDENTICAL logic hash match</a:t>
            </a:r>
            <a:r>
              <a:rPr lang="en-US" sz="12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structural plagiarism flagged for instructor review.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2351" y="473273"/>
            <a:ext cx="7512963" cy="523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00"/>
              </a:lnSpc>
              <a:buNone/>
            </a:pPr>
            <a:r>
              <a:rPr lang="en-US" sz="32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From Folder to Gradebook in Minutes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712351" y="1279088"/>
            <a:ext cx="13205579" cy="247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LFCV's bulk processing engine parallelises analysis across all submitted files simultaneously, delivering a complete class gradebook from a single folder selection.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12351" y="1826300"/>
            <a:ext cx="2501741" cy="261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The Four-Step Workflow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79753" y="2497931"/>
            <a:ext cx="167402" cy="980480"/>
          </a:xfrm>
          <a:prstGeom prst="roundRect">
            <a:avLst>
              <a:gd name="adj" fmla="val 42015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2351" y="2388037"/>
            <a:ext cx="502325" cy="502325"/>
          </a:xfrm>
          <a:prstGeom prst="roundRect">
            <a:avLst>
              <a:gd name="adj" fmla="val 91017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7962" y="2513648"/>
            <a:ext cx="251103" cy="25110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55884" y="2414230"/>
            <a:ext cx="2093238" cy="261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Select Folder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355884" y="2817019"/>
            <a:ext cx="5755005" cy="4941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Professor selects the submission directory via the JavaFX file picker — no configuration required.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1130856" y="3870841"/>
            <a:ext cx="167402" cy="980480"/>
          </a:xfrm>
          <a:prstGeom prst="roundRect">
            <a:avLst>
              <a:gd name="adj" fmla="val 42015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63454" y="3760946"/>
            <a:ext cx="502325" cy="502325"/>
          </a:xfrm>
          <a:prstGeom prst="roundRect">
            <a:avLst>
              <a:gd name="adj" fmla="val 91017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89065" y="3886557"/>
            <a:ext cx="251103" cy="25110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606987" y="3787140"/>
            <a:ext cx="2093238" cy="261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Parallel Analysis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1606987" y="4189928"/>
            <a:ext cx="5503902" cy="4941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managed thread pool dispatches one analysis task per file — all executing concurrently.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1382078" y="5243751"/>
            <a:ext cx="167402" cy="980480"/>
          </a:xfrm>
          <a:prstGeom prst="roundRect">
            <a:avLst>
              <a:gd name="adj" fmla="val 42015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1214676" y="5133856"/>
            <a:ext cx="502325" cy="502325"/>
          </a:xfrm>
          <a:prstGeom prst="roundRect">
            <a:avLst>
              <a:gd name="adj" fmla="val 91017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40287" y="5259467"/>
            <a:ext cx="251103" cy="251103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858208" y="5160050"/>
            <a:ext cx="2093238" cy="261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Real-Time Progress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1858208" y="5562838"/>
            <a:ext cx="5252680" cy="4941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live progress bar fills as each file completes — results populate the table incrementally.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1633299" y="6616660"/>
            <a:ext cx="167402" cy="980480"/>
          </a:xfrm>
          <a:prstGeom prst="roundRect">
            <a:avLst>
              <a:gd name="adj" fmla="val 42015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1465898" y="6506766"/>
            <a:ext cx="502325" cy="502325"/>
          </a:xfrm>
          <a:prstGeom prst="roundRect">
            <a:avLst>
              <a:gd name="adj" fmla="val 91017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91508" y="6632377"/>
            <a:ext cx="251103" cy="251103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2109430" y="6532959"/>
            <a:ext cx="2093238" cy="261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Results Ready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2109430" y="6935748"/>
            <a:ext cx="5001458" cy="4941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 class results appear in the sortable dashboard table, ready for review and export.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7526893" y="1826300"/>
            <a:ext cx="2093238" cy="261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Export Formats</a:t>
            </a:r>
            <a:endParaRPr lang="en-US" sz="1600" dirty="0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526893" y="2276118"/>
            <a:ext cx="251103" cy="251103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919204" y="2283381"/>
            <a:ext cx="2093238" cy="261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CSV Gradebook</a:t>
            </a:r>
            <a:endParaRPr lang="en-US" sz="1600" dirty="0"/>
          </a:p>
        </p:txBody>
      </p:sp>
      <p:sp>
        <p:nvSpPr>
          <p:cNvPr id="28" name="Text 21"/>
          <p:cNvSpPr/>
          <p:nvPr/>
        </p:nvSpPr>
        <p:spPr>
          <a:xfrm>
            <a:off x="7919204" y="2686169"/>
            <a:ext cx="6006227" cy="247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Importable into any spreadsheet or student information system.</a:t>
            </a:r>
            <a:endParaRPr lang="en-US" sz="1300" dirty="0"/>
          </a:p>
        </p:txBody>
      </p:sp>
      <p:pic>
        <p:nvPicPr>
          <p:cNvPr id="29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526893" y="3245048"/>
            <a:ext cx="251103" cy="251103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7919204" y="3252311"/>
            <a:ext cx="2093238" cy="261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JSON for LMS</a:t>
            </a:r>
            <a:endParaRPr lang="en-US" sz="1600" dirty="0"/>
          </a:p>
        </p:txBody>
      </p:sp>
      <p:sp>
        <p:nvSpPr>
          <p:cNvPr id="31" name="Text 23"/>
          <p:cNvSpPr/>
          <p:nvPr/>
        </p:nvSpPr>
        <p:spPr>
          <a:xfrm>
            <a:off x="7919204" y="3655100"/>
            <a:ext cx="6006227" cy="247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Structured output for direct ingestion by Moodle, Canvas, or custom APIs.</a:t>
            </a:r>
            <a:endParaRPr lang="en-US" sz="1300" dirty="0"/>
          </a:p>
        </p:txBody>
      </p:sp>
      <p:pic>
        <p:nvPicPr>
          <p:cNvPr id="32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526893" y="4213979"/>
            <a:ext cx="251103" cy="251103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7919204" y="4221242"/>
            <a:ext cx="3398163" cy="261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Summary TXT + Detailed Reports</a:t>
            </a:r>
            <a:endParaRPr lang="en-US" sz="1600" dirty="0"/>
          </a:p>
        </p:txBody>
      </p:sp>
      <p:sp>
        <p:nvSpPr>
          <p:cNvPr id="34" name="Text 25"/>
          <p:cNvSpPr/>
          <p:nvPr/>
        </p:nvSpPr>
        <p:spPr>
          <a:xfrm>
            <a:off x="7919204" y="4624030"/>
            <a:ext cx="6006227" cy="247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Human-readable per-student reports and a class-wide summary file.</a:t>
            </a:r>
            <a:endParaRPr lang="en-US" sz="1300" dirty="0"/>
          </a:p>
        </p:txBody>
      </p:sp>
      <p:pic>
        <p:nvPicPr>
          <p:cNvPr id="35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526893" y="5182910"/>
            <a:ext cx="251103" cy="251103"/>
          </a:xfrm>
          <a:prstGeom prst="rect">
            <a:avLst/>
          </a:prstGeom>
        </p:spPr>
      </p:pic>
      <p:sp>
        <p:nvSpPr>
          <p:cNvPr id="36" name="Text 26"/>
          <p:cNvSpPr/>
          <p:nvPr/>
        </p:nvSpPr>
        <p:spPr>
          <a:xfrm>
            <a:off x="7919204" y="5190173"/>
            <a:ext cx="2093238" cy="261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Email via SMTP</a:t>
            </a:r>
            <a:endParaRPr lang="en-US" sz="1600" dirty="0"/>
          </a:p>
        </p:txBody>
      </p:sp>
      <p:sp>
        <p:nvSpPr>
          <p:cNvPr id="37" name="Text 27"/>
          <p:cNvSpPr/>
          <p:nvPr/>
        </p:nvSpPr>
        <p:spPr>
          <a:xfrm>
            <a:off x="7919204" y="5592961"/>
            <a:ext cx="6006227" cy="247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Automated delivery of individual reports directly to students' inboxes.</a:t>
            </a:r>
            <a:endParaRPr lang="en-US" sz="1300" dirty="0"/>
          </a:p>
        </p:txBody>
      </p:sp>
      <p:sp>
        <p:nvSpPr>
          <p:cNvPr id="38" name="Shape 28"/>
          <p:cNvSpPr/>
          <p:nvPr/>
        </p:nvSpPr>
        <p:spPr>
          <a:xfrm>
            <a:off x="7526893" y="5998964"/>
            <a:ext cx="6398538" cy="895588"/>
          </a:xfrm>
          <a:prstGeom prst="roundRect">
            <a:avLst>
              <a:gd name="adj" fmla="val 7853"/>
            </a:avLst>
          </a:prstGeom>
          <a:solidFill>
            <a:srgbClr val="B6FCB8"/>
          </a:solidFill>
          <a:ln/>
        </p:spPr>
      </p:sp>
      <p:pic>
        <p:nvPicPr>
          <p:cNvPr id="39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694295" y="6244471"/>
            <a:ext cx="209312" cy="167402"/>
          </a:xfrm>
          <a:prstGeom prst="rect">
            <a:avLst/>
          </a:prstGeom>
        </p:spPr>
      </p:pic>
      <p:sp>
        <p:nvSpPr>
          <p:cNvPr id="40" name="Text 29"/>
          <p:cNvSpPr/>
          <p:nvPr/>
        </p:nvSpPr>
        <p:spPr>
          <a:xfrm>
            <a:off x="8071009" y="6181963"/>
            <a:ext cx="5687020" cy="5017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⚡ </a:t>
            </a:r>
            <a:r>
              <a:rPr lang="en-US" sz="13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 student submissions analysed in under 8 seconds</a:t>
            </a: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including parsing, scoring, CFG construction, and export.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01460" y="448628"/>
            <a:ext cx="5003959" cy="484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800"/>
              </a:lnSpc>
              <a:buNone/>
            </a:pPr>
            <a:r>
              <a:rPr lang="en-US" sz="30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Built on a Solid Foundation</a:t>
            </a:r>
            <a:endParaRPr lang="en-US" sz="3050" dirty="0"/>
          </a:p>
        </p:txBody>
      </p:sp>
      <p:sp>
        <p:nvSpPr>
          <p:cNvPr id="3" name="Text 1"/>
          <p:cNvSpPr/>
          <p:nvPr/>
        </p:nvSpPr>
        <p:spPr>
          <a:xfrm>
            <a:off x="1201460" y="1175385"/>
            <a:ext cx="12227362" cy="4417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LFCV was engineered for correctness and long-term maintainability — selecting mature, well-documented open-source libraries and verifying every analytical component with a dedicated test suite.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201460" y="1874401"/>
            <a:ext cx="1938218" cy="2422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Technology Stack</a:t>
            </a:r>
            <a:endParaRPr lang="en-US" sz="15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7233" y="2252901"/>
            <a:ext cx="1173004" cy="42755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054673" y="2378750"/>
            <a:ext cx="218003" cy="2725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7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17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90731" y="2719149"/>
            <a:ext cx="2346008" cy="42755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054673" y="2796659"/>
            <a:ext cx="218003" cy="2725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7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17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04110" y="3185398"/>
            <a:ext cx="3519130" cy="42755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054554" y="3262908"/>
            <a:ext cx="218003" cy="2725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7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17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17608" y="3651647"/>
            <a:ext cx="4692134" cy="427553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4054554" y="3729157"/>
            <a:ext cx="218003" cy="2725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7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</a:t>
            </a:r>
            <a:endParaRPr lang="en-US" sz="17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31106" y="4117896"/>
            <a:ext cx="5865257" cy="427553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4054673" y="4195405"/>
            <a:ext cx="218003" cy="2725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7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5</a:t>
            </a:r>
            <a:endParaRPr lang="en-US" sz="1700" dirty="0"/>
          </a:p>
        </p:txBody>
      </p:sp>
      <p:sp>
        <p:nvSpPr>
          <p:cNvPr id="15" name="Shape 8"/>
          <p:cNvSpPr/>
          <p:nvPr/>
        </p:nvSpPr>
        <p:spPr>
          <a:xfrm>
            <a:off x="1201460" y="4700468"/>
            <a:ext cx="310039" cy="310039"/>
          </a:xfrm>
          <a:prstGeom prst="roundRect">
            <a:avLst>
              <a:gd name="adj" fmla="val 21005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6" name="Text 9"/>
          <p:cNvSpPr/>
          <p:nvPr/>
        </p:nvSpPr>
        <p:spPr>
          <a:xfrm>
            <a:off x="1259622" y="4734401"/>
            <a:ext cx="193715" cy="2421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5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1500" dirty="0"/>
          </a:p>
        </p:txBody>
      </p:sp>
      <p:sp>
        <p:nvSpPr>
          <p:cNvPr id="17" name="Text 10"/>
          <p:cNvSpPr/>
          <p:nvPr/>
        </p:nvSpPr>
        <p:spPr>
          <a:xfrm>
            <a:off x="1632585" y="4734282"/>
            <a:ext cx="1938218" cy="2422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Apache Maven</a:t>
            </a:r>
            <a:endParaRPr lang="en-US" sz="1500" dirty="0"/>
          </a:p>
        </p:txBody>
      </p:sp>
      <p:sp>
        <p:nvSpPr>
          <p:cNvPr id="18" name="Shape 11"/>
          <p:cNvSpPr/>
          <p:nvPr/>
        </p:nvSpPr>
        <p:spPr>
          <a:xfrm>
            <a:off x="1201460" y="5243036"/>
            <a:ext cx="310039" cy="310039"/>
          </a:xfrm>
          <a:prstGeom prst="roundRect">
            <a:avLst>
              <a:gd name="adj" fmla="val 21005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9" name="Text 12"/>
          <p:cNvSpPr/>
          <p:nvPr/>
        </p:nvSpPr>
        <p:spPr>
          <a:xfrm>
            <a:off x="1259622" y="5276969"/>
            <a:ext cx="193715" cy="2421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5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1500" dirty="0"/>
          </a:p>
        </p:txBody>
      </p:sp>
      <p:sp>
        <p:nvSpPr>
          <p:cNvPr id="20" name="Text 13"/>
          <p:cNvSpPr/>
          <p:nvPr/>
        </p:nvSpPr>
        <p:spPr>
          <a:xfrm>
            <a:off x="1632585" y="5276850"/>
            <a:ext cx="3077408" cy="2422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Commons CSV · Gson · JavaMail</a:t>
            </a:r>
            <a:endParaRPr lang="en-US" sz="1500" dirty="0"/>
          </a:p>
        </p:txBody>
      </p:sp>
      <p:sp>
        <p:nvSpPr>
          <p:cNvPr id="21" name="Shape 14"/>
          <p:cNvSpPr/>
          <p:nvPr/>
        </p:nvSpPr>
        <p:spPr>
          <a:xfrm>
            <a:off x="1201460" y="5785604"/>
            <a:ext cx="310039" cy="310039"/>
          </a:xfrm>
          <a:prstGeom prst="roundRect">
            <a:avLst>
              <a:gd name="adj" fmla="val 21005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22" name="Text 15"/>
          <p:cNvSpPr/>
          <p:nvPr/>
        </p:nvSpPr>
        <p:spPr>
          <a:xfrm>
            <a:off x="1259622" y="5819537"/>
            <a:ext cx="193715" cy="2421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5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1500" dirty="0"/>
          </a:p>
        </p:txBody>
      </p:sp>
      <p:sp>
        <p:nvSpPr>
          <p:cNvPr id="23" name="Text 16"/>
          <p:cNvSpPr/>
          <p:nvPr/>
        </p:nvSpPr>
        <p:spPr>
          <a:xfrm>
            <a:off x="1632585" y="5819418"/>
            <a:ext cx="1938218" cy="2422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MySQL 8</a:t>
            </a:r>
            <a:endParaRPr lang="en-US" sz="1500" dirty="0"/>
          </a:p>
        </p:txBody>
      </p:sp>
      <p:sp>
        <p:nvSpPr>
          <p:cNvPr id="24" name="Shape 17"/>
          <p:cNvSpPr/>
          <p:nvPr/>
        </p:nvSpPr>
        <p:spPr>
          <a:xfrm>
            <a:off x="1201460" y="6328172"/>
            <a:ext cx="310039" cy="310039"/>
          </a:xfrm>
          <a:prstGeom prst="roundRect">
            <a:avLst>
              <a:gd name="adj" fmla="val 21005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25" name="Text 18"/>
          <p:cNvSpPr/>
          <p:nvPr/>
        </p:nvSpPr>
        <p:spPr>
          <a:xfrm>
            <a:off x="1259622" y="6362105"/>
            <a:ext cx="193715" cy="2421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5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</a:t>
            </a:r>
            <a:endParaRPr lang="en-US" sz="1500" dirty="0"/>
          </a:p>
        </p:txBody>
      </p:sp>
      <p:sp>
        <p:nvSpPr>
          <p:cNvPr id="26" name="Text 19"/>
          <p:cNvSpPr/>
          <p:nvPr/>
        </p:nvSpPr>
        <p:spPr>
          <a:xfrm>
            <a:off x="1632585" y="6361986"/>
            <a:ext cx="2815828" cy="2422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JGraphT 1.5 · JavaParser 3.25</a:t>
            </a:r>
            <a:endParaRPr lang="en-US" sz="1500" dirty="0"/>
          </a:p>
        </p:txBody>
      </p:sp>
      <p:sp>
        <p:nvSpPr>
          <p:cNvPr id="27" name="Shape 20"/>
          <p:cNvSpPr/>
          <p:nvPr/>
        </p:nvSpPr>
        <p:spPr>
          <a:xfrm>
            <a:off x="1201460" y="6870740"/>
            <a:ext cx="310039" cy="310039"/>
          </a:xfrm>
          <a:prstGeom prst="roundRect">
            <a:avLst>
              <a:gd name="adj" fmla="val 21005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28" name="Text 21"/>
          <p:cNvSpPr/>
          <p:nvPr/>
        </p:nvSpPr>
        <p:spPr>
          <a:xfrm>
            <a:off x="1259622" y="6904673"/>
            <a:ext cx="193715" cy="2421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5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5</a:t>
            </a:r>
            <a:endParaRPr lang="en-US" sz="1500" dirty="0"/>
          </a:p>
        </p:txBody>
      </p:sp>
      <p:sp>
        <p:nvSpPr>
          <p:cNvPr id="29" name="Text 22"/>
          <p:cNvSpPr/>
          <p:nvPr/>
        </p:nvSpPr>
        <p:spPr>
          <a:xfrm>
            <a:off x="1632585" y="6904553"/>
            <a:ext cx="1938218" cy="2422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JavaFX 21 · Java 17</a:t>
            </a:r>
            <a:endParaRPr lang="en-US" sz="1500" dirty="0"/>
          </a:p>
        </p:txBody>
      </p:sp>
      <p:sp>
        <p:nvSpPr>
          <p:cNvPr id="30" name="Text 23"/>
          <p:cNvSpPr/>
          <p:nvPr/>
        </p:nvSpPr>
        <p:spPr>
          <a:xfrm>
            <a:off x="7511772" y="1874401"/>
            <a:ext cx="4847987" cy="2422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Testing Coverage — 60 Unit Tests across 6 Classes</a:t>
            </a:r>
            <a:endParaRPr lang="en-US" sz="1500" dirty="0"/>
          </a:p>
        </p:txBody>
      </p:sp>
      <p:sp>
        <p:nvSpPr>
          <p:cNvPr id="31" name="Shape 24"/>
          <p:cNvSpPr/>
          <p:nvPr/>
        </p:nvSpPr>
        <p:spPr>
          <a:xfrm>
            <a:off x="7511772" y="2252901"/>
            <a:ext cx="2901672" cy="1716524"/>
          </a:xfrm>
          <a:prstGeom prst="roundRect">
            <a:avLst>
              <a:gd name="adj" fmla="val 3794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>
            <a:off x="7674412" y="2415540"/>
            <a:ext cx="465058" cy="465058"/>
          </a:xfrm>
          <a:prstGeom prst="roundRect">
            <a:avLst>
              <a:gd name="adj" fmla="val 19660097"/>
            </a:avLst>
          </a:prstGeom>
          <a:solidFill>
            <a:srgbClr val="4950BC"/>
          </a:solidFill>
          <a:ln/>
        </p:spPr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802285" y="2543294"/>
            <a:ext cx="209312" cy="209312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7674412" y="3001685"/>
            <a:ext cx="1938218" cy="2422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CC Accuracy</a:t>
            </a:r>
            <a:endParaRPr lang="en-US" sz="1500" dirty="0"/>
          </a:p>
        </p:txBody>
      </p:sp>
      <p:sp>
        <p:nvSpPr>
          <p:cNvPr id="35" name="Text 27"/>
          <p:cNvSpPr/>
          <p:nvPr/>
        </p:nvSpPr>
        <p:spPr>
          <a:xfrm>
            <a:off x="7674412" y="3365063"/>
            <a:ext cx="2576393" cy="2208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Cyclomatic complexity correctness</a:t>
            </a:r>
            <a:endParaRPr lang="en-US" sz="1200" dirty="0"/>
          </a:p>
        </p:txBody>
      </p:sp>
      <p:sp>
        <p:nvSpPr>
          <p:cNvPr id="36" name="Shape 28"/>
          <p:cNvSpPr/>
          <p:nvPr/>
        </p:nvSpPr>
        <p:spPr>
          <a:xfrm>
            <a:off x="10534531" y="2252901"/>
            <a:ext cx="2901791" cy="1716524"/>
          </a:xfrm>
          <a:prstGeom prst="roundRect">
            <a:avLst>
              <a:gd name="adj" fmla="val 3794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37" name="Shape 29"/>
          <p:cNvSpPr/>
          <p:nvPr/>
        </p:nvSpPr>
        <p:spPr>
          <a:xfrm>
            <a:off x="10697170" y="2415540"/>
            <a:ext cx="465058" cy="465058"/>
          </a:xfrm>
          <a:prstGeom prst="roundRect">
            <a:avLst>
              <a:gd name="adj" fmla="val 19660097"/>
            </a:avLst>
          </a:prstGeom>
          <a:solidFill>
            <a:srgbClr val="4950BC"/>
          </a:solidFill>
          <a:ln/>
        </p:spPr>
      </p:sp>
      <p:pic>
        <p:nvPicPr>
          <p:cNvPr id="38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825043" y="2543294"/>
            <a:ext cx="209312" cy="209312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10697170" y="3001685"/>
            <a:ext cx="1938218" cy="2422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CFG Construction</a:t>
            </a:r>
            <a:endParaRPr lang="en-US" sz="1500" dirty="0"/>
          </a:p>
        </p:txBody>
      </p:sp>
      <p:sp>
        <p:nvSpPr>
          <p:cNvPr id="40" name="Text 31"/>
          <p:cNvSpPr/>
          <p:nvPr/>
        </p:nvSpPr>
        <p:spPr>
          <a:xfrm>
            <a:off x="10697170" y="3365063"/>
            <a:ext cx="2576512" cy="4417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Edge, node, and back-edge validity</a:t>
            </a:r>
            <a:endParaRPr lang="en-US" sz="1200" dirty="0"/>
          </a:p>
        </p:txBody>
      </p:sp>
      <p:sp>
        <p:nvSpPr>
          <p:cNvPr id="41" name="Shape 32"/>
          <p:cNvSpPr/>
          <p:nvPr/>
        </p:nvSpPr>
        <p:spPr>
          <a:xfrm>
            <a:off x="7511772" y="4090511"/>
            <a:ext cx="2901672" cy="1716524"/>
          </a:xfrm>
          <a:prstGeom prst="roundRect">
            <a:avLst>
              <a:gd name="adj" fmla="val 3794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42" name="Shape 33"/>
          <p:cNvSpPr/>
          <p:nvPr/>
        </p:nvSpPr>
        <p:spPr>
          <a:xfrm>
            <a:off x="7674412" y="4253151"/>
            <a:ext cx="465058" cy="465058"/>
          </a:xfrm>
          <a:prstGeom prst="roundRect">
            <a:avLst>
              <a:gd name="adj" fmla="val 19660097"/>
            </a:avLst>
          </a:prstGeom>
          <a:solidFill>
            <a:srgbClr val="4950BC"/>
          </a:solidFill>
          <a:ln/>
        </p:spPr>
      </p:sp>
      <p:pic>
        <p:nvPicPr>
          <p:cNvPr id="43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802285" y="4380905"/>
            <a:ext cx="209312" cy="209312"/>
          </a:xfrm>
          <a:prstGeom prst="rect">
            <a:avLst/>
          </a:prstGeom>
        </p:spPr>
      </p:pic>
      <p:sp>
        <p:nvSpPr>
          <p:cNvPr id="44" name="Text 34"/>
          <p:cNvSpPr/>
          <p:nvPr/>
        </p:nvSpPr>
        <p:spPr>
          <a:xfrm>
            <a:off x="7674412" y="4839295"/>
            <a:ext cx="1938218" cy="2422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Hash Equality</a:t>
            </a:r>
            <a:endParaRPr lang="en-US" sz="1500" dirty="0"/>
          </a:p>
        </p:txBody>
      </p:sp>
      <p:sp>
        <p:nvSpPr>
          <p:cNvPr id="45" name="Text 35"/>
          <p:cNvSpPr/>
          <p:nvPr/>
        </p:nvSpPr>
        <p:spPr>
          <a:xfrm>
            <a:off x="7674412" y="5202674"/>
            <a:ext cx="2576393" cy="2208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Logic fingerprint determinism</a:t>
            </a:r>
            <a:endParaRPr lang="en-US" sz="1200" dirty="0"/>
          </a:p>
        </p:txBody>
      </p:sp>
      <p:sp>
        <p:nvSpPr>
          <p:cNvPr id="46" name="Shape 36"/>
          <p:cNvSpPr/>
          <p:nvPr/>
        </p:nvSpPr>
        <p:spPr>
          <a:xfrm>
            <a:off x="10534531" y="4090511"/>
            <a:ext cx="2901791" cy="1716524"/>
          </a:xfrm>
          <a:prstGeom prst="roundRect">
            <a:avLst>
              <a:gd name="adj" fmla="val 3794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47" name="Shape 37"/>
          <p:cNvSpPr/>
          <p:nvPr/>
        </p:nvSpPr>
        <p:spPr>
          <a:xfrm>
            <a:off x="10697170" y="4253151"/>
            <a:ext cx="465058" cy="465058"/>
          </a:xfrm>
          <a:prstGeom prst="roundRect">
            <a:avLst>
              <a:gd name="adj" fmla="val 19660097"/>
            </a:avLst>
          </a:prstGeom>
          <a:solidFill>
            <a:srgbClr val="4950BC"/>
          </a:solidFill>
          <a:ln/>
        </p:spPr>
      </p:sp>
      <p:pic>
        <p:nvPicPr>
          <p:cNvPr id="48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825043" y="4380905"/>
            <a:ext cx="209312" cy="209312"/>
          </a:xfrm>
          <a:prstGeom prst="rect">
            <a:avLst/>
          </a:prstGeom>
        </p:spPr>
      </p:pic>
      <p:sp>
        <p:nvSpPr>
          <p:cNvPr id="49" name="Text 38"/>
          <p:cNvSpPr/>
          <p:nvPr/>
        </p:nvSpPr>
        <p:spPr>
          <a:xfrm>
            <a:off x="10697170" y="4839295"/>
            <a:ext cx="1938218" cy="2422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Smell Detection</a:t>
            </a:r>
            <a:endParaRPr lang="en-US" sz="1500" dirty="0"/>
          </a:p>
        </p:txBody>
      </p:sp>
      <p:sp>
        <p:nvSpPr>
          <p:cNvPr id="50" name="Text 39"/>
          <p:cNvSpPr/>
          <p:nvPr/>
        </p:nvSpPr>
        <p:spPr>
          <a:xfrm>
            <a:off x="10697170" y="5202674"/>
            <a:ext cx="2576512" cy="4417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God Class, Spaghetti, Magic Numbers</a:t>
            </a:r>
            <a:endParaRPr lang="en-US" sz="1200" dirty="0"/>
          </a:p>
        </p:txBody>
      </p:sp>
      <p:sp>
        <p:nvSpPr>
          <p:cNvPr id="51" name="Shape 40"/>
          <p:cNvSpPr/>
          <p:nvPr/>
        </p:nvSpPr>
        <p:spPr>
          <a:xfrm>
            <a:off x="7511772" y="5928122"/>
            <a:ext cx="2901672" cy="1716524"/>
          </a:xfrm>
          <a:prstGeom prst="roundRect">
            <a:avLst>
              <a:gd name="adj" fmla="val 3794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52" name="Shape 41"/>
          <p:cNvSpPr/>
          <p:nvPr/>
        </p:nvSpPr>
        <p:spPr>
          <a:xfrm>
            <a:off x="7674412" y="6090761"/>
            <a:ext cx="465058" cy="465058"/>
          </a:xfrm>
          <a:prstGeom prst="roundRect">
            <a:avLst>
              <a:gd name="adj" fmla="val 19660097"/>
            </a:avLst>
          </a:prstGeom>
          <a:solidFill>
            <a:srgbClr val="4950BC"/>
          </a:solidFill>
          <a:ln/>
        </p:spPr>
      </p:sp>
      <p:pic>
        <p:nvPicPr>
          <p:cNvPr id="53" name="Image 9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802285" y="6218515"/>
            <a:ext cx="209312" cy="209312"/>
          </a:xfrm>
          <a:prstGeom prst="rect">
            <a:avLst/>
          </a:prstGeom>
        </p:spPr>
      </p:pic>
      <p:sp>
        <p:nvSpPr>
          <p:cNvPr id="54" name="Text 42"/>
          <p:cNvSpPr/>
          <p:nvPr/>
        </p:nvSpPr>
        <p:spPr>
          <a:xfrm>
            <a:off x="7674412" y="6676906"/>
            <a:ext cx="1938218" cy="2422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Report Generation</a:t>
            </a:r>
            <a:endParaRPr lang="en-US" sz="1500" dirty="0"/>
          </a:p>
        </p:txBody>
      </p:sp>
      <p:sp>
        <p:nvSpPr>
          <p:cNvPr id="55" name="Text 43"/>
          <p:cNvSpPr/>
          <p:nvPr/>
        </p:nvSpPr>
        <p:spPr>
          <a:xfrm>
            <a:off x="7674412" y="7040285"/>
            <a:ext cx="2576393" cy="2208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CSV, JSON, and TXT output fidelity</a:t>
            </a:r>
            <a:endParaRPr lang="en-US" sz="1200" dirty="0"/>
          </a:p>
        </p:txBody>
      </p:sp>
      <p:sp>
        <p:nvSpPr>
          <p:cNvPr id="56" name="Shape 44"/>
          <p:cNvSpPr/>
          <p:nvPr/>
        </p:nvSpPr>
        <p:spPr>
          <a:xfrm>
            <a:off x="10534531" y="5928122"/>
            <a:ext cx="2901791" cy="1716524"/>
          </a:xfrm>
          <a:prstGeom prst="roundRect">
            <a:avLst>
              <a:gd name="adj" fmla="val 3794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57" name="Shape 45"/>
          <p:cNvSpPr/>
          <p:nvPr/>
        </p:nvSpPr>
        <p:spPr>
          <a:xfrm>
            <a:off x="10697170" y="6090761"/>
            <a:ext cx="465058" cy="465058"/>
          </a:xfrm>
          <a:prstGeom prst="roundRect">
            <a:avLst>
              <a:gd name="adj" fmla="val 19660097"/>
            </a:avLst>
          </a:prstGeom>
          <a:solidFill>
            <a:srgbClr val="4950BC"/>
          </a:solidFill>
          <a:ln/>
        </p:spPr>
      </p:sp>
      <p:pic>
        <p:nvPicPr>
          <p:cNvPr id="58" name="Image 1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0825043" y="6218515"/>
            <a:ext cx="209312" cy="209312"/>
          </a:xfrm>
          <a:prstGeom prst="rect">
            <a:avLst/>
          </a:prstGeom>
        </p:spPr>
      </p:pic>
      <p:sp>
        <p:nvSpPr>
          <p:cNvPr id="59" name="Text 46"/>
          <p:cNvSpPr/>
          <p:nvPr/>
        </p:nvSpPr>
        <p:spPr>
          <a:xfrm>
            <a:off x="10697170" y="6676906"/>
            <a:ext cx="1957864" cy="2422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Plagiarism Detection</a:t>
            </a:r>
            <a:endParaRPr lang="en-US" sz="1500" dirty="0"/>
          </a:p>
        </p:txBody>
      </p:sp>
      <p:sp>
        <p:nvSpPr>
          <p:cNvPr id="60" name="Text 47"/>
          <p:cNvSpPr/>
          <p:nvPr/>
        </p:nvSpPr>
        <p:spPr>
          <a:xfrm>
            <a:off x="10697170" y="7040285"/>
            <a:ext cx="2576512" cy="4417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Identical and near-identical pair flagging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758" y="517088"/>
            <a:ext cx="6387822" cy="5717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500"/>
              </a:lnSpc>
              <a:buNone/>
            </a:pPr>
            <a:r>
              <a:rPr lang="en-US" sz="36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Where LFCV Goes from Here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00075" y="1341834"/>
            <a:ext cx="6623685" cy="5520214"/>
          </a:xfrm>
          <a:prstGeom prst="roundRect">
            <a:avLst>
              <a:gd name="adj" fmla="val 2386"/>
            </a:avLst>
          </a:prstGeom>
          <a:solidFill>
            <a:srgbClr val="FFD1A7"/>
          </a:solidFill>
          <a:ln/>
        </p:spPr>
      </p:sp>
      <p:sp>
        <p:nvSpPr>
          <p:cNvPr id="4" name="Text 2"/>
          <p:cNvSpPr/>
          <p:nvPr/>
        </p:nvSpPr>
        <p:spPr>
          <a:xfrm>
            <a:off x="782955" y="1510427"/>
            <a:ext cx="2551509" cy="2858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Three Core Takeaways</a:t>
            </a:r>
            <a:endParaRPr lang="en-US" sz="18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51535" y="1991618"/>
            <a:ext cx="274439" cy="27443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7434" y="1985962"/>
            <a:ext cx="2287072" cy="2858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Objective Grading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377434" y="2440424"/>
            <a:ext cx="5663446" cy="844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score is derived from verifiable mathematics — not opinion. Cyclomatic complexity, nesting depth, and CBO are reproducible by any evaluator.</a:t>
            </a:r>
            <a:endParaRPr lang="en-US" sz="14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51535" y="3627418"/>
            <a:ext cx="274439" cy="27443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77434" y="3621762"/>
            <a:ext cx="3478530" cy="2858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Structural Plagiarism Detection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1377434" y="4076224"/>
            <a:ext cx="5663446" cy="5626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Logic Fingerprint catches identity-obfuscated copying that no text-matching tool — including MOSS — can detect.</a:t>
            </a:r>
            <a:endParaRPr lang="en-US" sz="14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51535" y="4981873"/>
            <a:ext cx="274439" cy="274439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377434" y="4976217"/>
            <a:ext cx="2650450" cy="2858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Scalable and Extensible</a:t>
            </a:r>
            <a:endParaRPr lang="en-US" sz="1800" dirty="0"/>
          </a:p>
        </p:txBody>
      </p:sp>
      <p:sp>
        <p:nvSpPr>
          <p:cNvPr id="13" name="Text 8"/>
          <p:cNvSpPr/>
          <p:nvPr/>
        </p:nvSpPr>
        <p:spPr>
          <a:xfrm>
            <a:off x="1377434" y="5430679"/>
            <a:ext cx="5663446" cy="5626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Adding a new code metric requires writing a single Visitor class. The architecture scales to any class size without reconfiguration.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7545943" y="1510427"/>
            <a:ext cx="2589609" cy="2858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Development Roadmap</a:t>
            </a:r>
            <a:endParaRPr lang="en-US" sz="1800" dirty="0"/>
          </a:p>
        </p:txBody>
      </p:sp>
      <p:sp>
        <p:nvSpPr>
          <p:cNvPr id="15" name="Shape 10"/>
          <p:cNvSpPr/>
          <p:nvPr/>
        </p:nvSpPr>
        <p:spPr>
          <a:xfrm>
            <a:off x="10714673" y="1985962"/>
            <a:ext cx="22860" cy="4686419"/>
          </a:xfrm>
          <a:prstGeom prst="roundRect">
            <a:avLst>
              <a:gd name="adj" fmla="val 336163"/>
            </a:avLst>
          </a:prstGeom>
          <a:solidFill>
            <a:srgbClr val="C0C1D7"/>
          </a:solidFill>
          <a:ln/>
        </p:spPr>
      </p:sp>
      <p:sp>
        <p:nvSpPr>
          <p:cNvPr id="16" name="Shape 11"/>
          <p:cNvSpPr/>
          <p:nvPr/>
        </p:nvSpPr>
        <p:spPr>
          <a:xfrm>
            <a:off x="9994285" y="2180273"/>
            <a:ext cx="548878" cy="22860"/>
          </a:xfrm>
          <a:prstGeom prst="roundRect">
            <a:avLst>
              <a:gd name="adj" fmla="val 336163"/>
            </a:avLst>
          </a:prstGeom>
          <a:solidFill>
            <a:srgbClr val="C0C1D7"/>
          </a:solidFill>
          <a:ln/>
        </p:spPr>
      </p:sp>
      <p:sp>
        <p:nvSpPr>
          <p:cNvPr id="17" name="Shape 12"/>
          <p:cNvSpPr/>
          <p:nvPr/>
        </p:nvSpPr>
        <p:spPr>
          <a:xfrm>
            <a:off x="10520303" y="1985962"/>
            <a:ext cx="411599" cy="411599"/>
          </a:xfrm>
          <a:prstGeom prst="roundRect">
            <a:avLst>
              <a:gd name="adj" fmla="val 18670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10588823" y="2020193"/>
            <a:ext cx="274439" cy="343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2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2150" dirty="0"/>
          </a:p>
        </p:txBody>
      </p:sp>
      <p:sp>
        <p:nvSpPr>
          <p:cNvPr id="19" name="Text 14"/>
          <p:cNvSpPr/>
          <p:nvPr/>
        </p:nvSpPr>
        <p:spPr>
          <a:xfrm>
            <a:off x="7545943" y="2048827"/>
            <a:ext cx="2265402" cy="2858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Near Term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7545943" y="2503289"/>
            <a:ext cx="2265402" cy="11329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2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Native platform installers via </a:t>
            </a:r>
            <a:r>
              <a:rPr lang="en-US" sz="14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jpackage</a:t>
            </a: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; multi-file package-level analysis across class hierarchies.</a:t>
            </a:r>
            <a:endParaRPr lang="en-US" sz="1400" dirty="0"/>
          </a:p>
        </p:txBody>
      </p:sp>
      <p:sp>
        <p:nvSpPr>
          <p:cNvPr id="21" name="Shape 16"/>
          <p:cNvSpPr/>
          <p:nvPr/>
        </p:nvSpPr>
        <p:spPr>
          <a:xfrm>
            <a:off x="10909042" y="3249335"/>
            <a:ext cx="548878" cy="22860"/>
          </a:xfrm>
          <a:prstGeom prst="roundRect">
            <a:avLst>
              <a:gd name="adj" fmla="val 336163"/>
            </a:avLst>
          </a:prstGeom>
          <a:solidFill>
            <a:srgbClr val="C0C1D7"/>
          </a:solidFill>
          <a:ln/>
        </p:spPr>
      </p:sp>
      <p:sp>
        <p:nvSpPr>
          <p:cNvPr id="22" name="Shape 17"/>
          <p:cNvSpPr/>
          <p:nvPr/>
        </p:nvSpPr>
        <p:spPr>
          <a:xfrm>
            <a:off x="10520303" y="3055025"/>
            <a:ext cx="411599" cy="411599"/>
          </a:xfrm>
          <a:prstGeom prst="roundRect">
            <a:avLst>
              <a:gd name="adj" fmla="val 18670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10588823" y="3089255"/>
            <a:ext cx="274439" cy="343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2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2150" dirty="0"/>
          </a:p>
        </p:txBody>
      </p:sp>
      <p:sp>
        <p:nvSpPr>
          <p:cNvPr id="24" name="Text 19"/>
          <p:cNvSpPr/>
          <p:nvPr/>
        </p:nvSpPr>
        <p:spPr>
          <a:xfrm>
            <a:off x="11640860" y="3117890"/>
            <a:ext cx="2265402" cy="2858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Medium Term</a:t>
            </a:r>
            <a:endParaRPr lang="en-US" sz="1800" dirty="0"/>
          </a:p>
        </p:txBody>
      </p:sp>
      <p:sp>
        <p:nvSpPr>
          <p:cNvPr id="25" name="Text 20"/>
          <p:cNvSpPr/>
          <p:nvPr/>
        </p:nvSpPr>
        <p:spPr>
          <a:xfrm>
            <a:off x="11640860" y="3572351"/>
            <a:ext cx="2265402" cy="14067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Python language support via an alternative parser; direct LMS integration with Moodle and Canvas grade passback APIs.</a:t>
            </a:r>
            <a:endParaRPr lang="en-US" sz="1400" dirty="0"/>
          </a:p>
        </p:txBody>
      </p:sp>
      <p:sp>
        <p:nvSpPr>
          <p:cNvPr id="26" name="Shape 21"/>
          <p:cNvSpPr/>
          <p:nvPr/>
        </p:nvSpPr>
        <p:spPr>
          <a:xfrm>
            <a:off x="9994285" y="4379952"/>
            <a:ext cx="548878" cy="22860"/>
          </a:xfrm>
          <a:prstGeom prst="roundRect">
            <a:avLst>
              <a:gd name="adj" fmla="val 336163"/>
            </a:avLst>
          </a:prstGeom>
          <a:solidFill>
            <a:srgbClr val="C0C1D7"/>
          </a:solidFill>
          <a:ln/>
        </p:spPr>
      </p:sp>
      <p:sp>
        <p:nvSpPr>
          <p:cNvPr id="27" name="Shape 22"/>
          <p:cNvSpPr/>
          <p:nvPr/>
        </p:nvSpPr>
        <p:spPr>
          <a:xfrm>
            <a:off x="10520303" y="4185642"/>
            <a:ext cx="411599" cy="411599"/>
          </a:xfrm>
          <a:prstGeom prst="roundRect">
            <a:avLst>
              <a:gd name="adj" fmla="val 18670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10588823" y="4219873"/>
            <a:ext cx="274439" cy="343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2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2150" dirty="0"/>
          </a:p>
        </p:txBody>
      </p:sp>
      <p:sp>
        <p:nvSpPr>
          <p:cNvPr id="29" name="Text 24"/>
          <p:cNvSpPr/>
          <p:nvPr/>
        </p:nvSpPr>
        <p:spPr>
          <a:xfrm>
            <a:off x="7545943" y="4248507"/>
            <a:ext cx="2265402" cy="2858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Long Term</a:t>
            </a:r>
            <a:endParaRPr lang="en-US" sz="1800" dirty="0"/>
          </a:p>
        </p:txBody>
      </p:sp>
      <p:sp>
        <p:nvSpPr>
          <p:cNvPr id="30" name="Text 25"/>
          <p:cNvSpPr/>
          <p:nvPr/>
        </p:nvSpPr>
        <p:spPr>
          <a:xfrm>
            <a:off x="7545943" y="4702969"/>
            <a:ext cx="2265402" cy="19694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2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Machine learning anomaly detection trained on historical submissions; real-time hot-drop folder monitoring for live assessment environments.</a:t>
            </a:r>
            <a:endParaRPr lang="en-US" sz="1400" dirty="0"/>
          </a:p>
        </p:txBody>
      </p:sp>
      <p:sp>
        <p:nvSpPr>
          <p:cNvPr id="31" name="Text 26"/>
          <p:cNvSpPr/>
          <p:nvPr/>
        </p:nvSpPr>
        <p:spPr>
          <a:xfrm>
            <a:off x="1006197" y="7241381"/>
            <a:ext cx="12892445" cy="2813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00" i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"LFCV doesn't replace the professor's judgment — it informs it, with evidence."</a:t>
            </a:r>
            <a:endParaRPr lang="en-US" sz="1400" dirty="0"/>
          </a:p>
        </p:txBody>
      </p:sp>
      <p:sp>
        <p:nvSpPr>
          <p:cNvPr id="32" name="Shape 27"/>
          <p:cNvSpPr/>
          <p:nvPr/>
        </p:nvSpPr>
        <p:spPr>
          <a:xfrm>
            <a:off x="731758" y="7051715"/>
            <a:ext cx="22860" cy="660678"/>
          </a:xfrm>
          <a:prstGeom prst="rect">
            <a:avLst/>
          </a:prstGeom>
          <a:solidFill>
            <a:srgbClr val="4950BC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2353389" y="2916555"/>
            <a:ext cx="9923621" cy="12403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9750"/>
              </a:lnSpc>
              <a:buNone/>
            </a:pPr>
            <a:r>
              <a:rPr lang="en-US" sz="78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Thank You</a:t>
            </a:r>
            <a:endParaRPr lang="en-US" sz="7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AE6F2518-B084-4896-AF52-66CC2144AA2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</TotalTime>
  <Words>1470</Words>
  <Application>Microsoft Macintosh PowerPoint</Application>
  <PresentationFormat>Custom</PresentationFormat>
  <Paragraphs>248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Calibri</vt:lpstr>
      <vt:lpstr>Inter</vt:lpstr>
      <vt:lpstr>Inter Bold</vt:lpstr>
      <vt:lpstr>Calibri Light</vt:lpstr>
      <vt:lpstr>Optima</vt:lpstr>
      <vt:lpstr>Arial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Prakul Singh</cp:lastModifiedBy>
  <cp:revision>2</cp:revision>
  <dcterms:created xsi:type="dcterms:W3CDTF">2026-04-20T03:54:03Z</dcterms:created>
  <dcterms:modified xsi:type="dcterms:W3CDTF">2026-04-20T03:56:51Z</dcterms:modified>
</cp:coreProperties>
</file>